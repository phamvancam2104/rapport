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3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7569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903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23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83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40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76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77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7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233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36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592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82B82-764F-42FB-A7D5-3A4EAD066221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481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5811244" y="3311709"/>
            <a:ext cx="5675539" cy="2923991"/>
            <a:chOff x="780144" y="1138222"/>
            <a:chExt cx="5888827" cy="2998269"/>
          </a:xfrm>
        </p:grpSpPr>
        <p:sp>
          <p:nvSpPr>
            <p:cNvPr id="6" name="ZoneTexte 5"/>
            <p:cNvSpPr txBox="1"/>
            <p:nvPr/>
          </p:nvSpPr>
          <p:spPr>
            <a:xfrm>
              <a:off x="3974016" y="2074388"/>
              <a:ext cx="2682145" cy="2062103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fr-FR" sz="800" smtClean="0">
                  <a:solidFill>
                    <a:srgbClr val="008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/*non generated*/</a:t>
              </a:r>
              <a:endParaRPr lang="fr-FR" sz="80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int</a:t>
              </a:r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sum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 b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int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a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int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b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{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</a:t>
              </a:r>
              <a:r>
                <a:rPr lang="fr-FR" sz="800" b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int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size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{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int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varName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=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a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BEncAsnContent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(&amp;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pBuffer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&amp;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varName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size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+=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 smtClean="0">
                  <a:solidFill>
                    <a:srgbClr val="0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sizeof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a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}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{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int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varName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=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b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BEncAsnContent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(&amp;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pBuffer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&amp;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varName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size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+=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 smtClean="0">
                  <a:solidFill>
                    <a:srgbClr val="0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sizeof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b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}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size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=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size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+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0" smtClean="0">
                  <a:solidFill>
                    <a:srgbClr val="FF8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5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send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pBuffer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size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}</a:t>
              </a:r>
              <a:endParaRPr lang="fr-FR" sz="800"/>
            </a:p>
          </p:txBody>
        </p:sp>
        <p:sp>
          <p:nvSpPr>
            <p:cNvPr id="13" name="ZoneTexte 12"/>
            <p:cNvSpPr txBox="1"/>
            <p:nvPr/>
          </p:nvSpPr>
          <p:spPr>
            <a:xfrm>
              <a:off x="5455179" y="2029312"/>
              <a:ext cx="121379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smtClean="0"/>
                <a:t>Generated code C</a:t>
              </a:r>
              <a:endParaRPr lang="fr-FR" sz="1100"/>
            </a:p>
          </p:txBody>
        </p:sp>
        <p:grpSp>
          <p:nvGrpSpPr>
            <p:cNvPr id="3" name="Groupe 2"/>
            <p:cNvGrpSpPr/>
            <p:nvPr/>
          </p:nvGrpSpPr>
          <p:grpSpPr>
            <a:xfrm>
              <a:off x="780144" y="2355644"/>
              <a:ext cx="3163200" cy="1780847"/>
              <a:chOff x="1490437" y="1041361"/>
              <a:chExt cx="3163200" cy="1780847"/>
            </a:xfrm>
          </p:grpSpPr>
          <p:sp>
            <p:nvSpPr>
              <p:cNvPr id="4" name="ZoneTexte 3"/>
              <p:cNvSpPr txBox="1"/>
              <p:nvPr/>
            </p:nvSpPr>
            <p:spPr>
              <a:xfrm>
                <a:off x="1490437" y="1086436"/>
                <a:ext cx="3098956" cy="173577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sz="800" smtClean="0">
                    <a:solidFill>
                      <a:srgbClr val="8000FF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public</a:t>
                </a:r>
                <a:r>
                  <a:rPr lang="fr-FR" sz="80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def marshall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(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Operation op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)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{</a:t>
                </a:r>
                <a:endPara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endParaRPr>
              </a:p>
              <a:p>
                <a:r>
                  <a:rPr lang="fr-FR" sz="80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  </a:t>
                </a:r>
                <a:r>
                  <a:rPr lang="fr-FR" sz="800" b="0" smtClean="0">
                    <a:solidFill>
                      <a:srgbClr val="808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''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'</a:t>
                </a:r>
              </a:p>
              <a:p>
                <a:r>
                  <a:rPr lang="fr-FR" sz="800" b="0" smtClean="0">
                    <a:solidFill>
                      <a:srgbClr val="8000FF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  </a:t>
                </a:r>
                <a:r>
                  <a:rPr lang="fr-FR" sz="800" b="0" smtClean="0">
                    <a:solidFill>
                      <a:srgbClr val="8000FF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int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size 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=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fr-FR" sz="800" b="0" smtClean="0">
                    <a:solidFill>
                      <a:srgbClr val="FF8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0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;</a:t>
                </a:r>
                <a:endPara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endParaRPr>
              </a:p>
              <a:p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  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«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FOR p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: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op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.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InOutParameters»</a:t>
                </a:r>
              </a:p>
              <a:p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  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{</a:t>
                </a:r>
                <a:endPara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endParaRPr>
              </a:p>
              <a:p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     «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p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.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type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.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cppType» varName_ASN 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=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«p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.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name»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;</a:t>
                </a:r>
                <a:endPara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endParaRPr>
              </a:p>
              <a:p>
                <a:r>
                  <a:rPr lang="fr-FR" sz="800" b="1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     AnsiMarshall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(&amp;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pBuffer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,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&amp;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varName_ASN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);</a:t>
                </a:r>
                <a:endPara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endParaRPr>
              </a:p>
              <a:p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     size 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+=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sizeof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(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«p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.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name»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);</a:t>
                </a:r>
                <a:endPara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endParaRPr>
              </a:p>
              <a:p>
                <a:r>
                  <a:rPr lang="fr-FR" sz="80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fr-FR" sz="80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 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}</a:t>
                </a:r>
                <a:endPara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endParaRPr>
              </a:p>
              <a:p>
                <a:r>
                  <a:rPr lang="fr-FR" sz="80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fr-FR" sz="80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 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«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ENDFOR»</a:t>
                </a:r>
              </a:p>
              <a:p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  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send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(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pBuffer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,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size</a:t>
                </a:r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);</a:t>
                </a:r>
                <a:endPara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endParaRPr>
              </a:p>
              <a:p>
                <a:r>
                  <a:rPr lang="fr-FR" sz="80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fr-FR" sz="80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 </a:t>
                </a:r>
                <a:r>
                  <a:rPr lang="fr-FR" sz="800" b="0" smtClean="0">
                    <a:solidFill>
                      <a:srgbClr val="808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''</a:t>
                </a:r>
                <a:r>
                  <a: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'</a:t>
                </a:r>
              </a:p>
              <a:p>
                <a:r>
                  <a:rPr lang="fr-FR" sz="800" b="1" smtClean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}</a:t>
                </a:r>
                <a:endParaRPr lang="fr-FR" sz="800"/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3795070" y="1041361"/>
                <a:ext cx="858567" cy="2682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smtClean="0"/>
                  <a:t>Template T</a:t>
                </a:r>
                <a:endParaRPr lang="fr-FR" sz="1100"/>
              </a:p>
            </p:txBody>
          </p:sp>
        </p:grpSp>
        <p:pic>
          <p:nvPicPr>
            <p:cNvPr id="15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3254" y="1138222"/>
              <a:ext cx="2586686" cy="1247480"/>
            </a:xfrm>
            <a:prstGeom prst="rect">
              <a:avLst/>
            </a:prstGeom>
          </p:spPr>
        </p:pic>
      </p:grpSp>
      <p:grpSp>
        <p:nvGrpSpPr>
          <p:cNvPr id="5" name="Groupe 4"/>
          <p:cNvGrpSpPr/>
          <p:nvPr/>
        </p:nvGrpSpPr>
        <p:grpSpPr>
          <a:xfrm>
            <a:off x="17584" y="2540931"/>
            <a:ext cx="5719310" cy="3753722"/>
            <a:chOff x="238169" y="-52669"/>
            <a:chExt cx="6398145" cy="3644054"/>
          </a:xfrm>
        </p:grpSpPr>
        <p:pic>
          <p:nvPicPr>
            <p:cNvPr id="10" name="Imag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366" y="-52669"/>
              <a:ext cx="1891065" cy="1123147"/>
            </a:xfrm>
            <a:prstGeom prst="rect">
              <a:avLst/>
            </a:prstGeom>
          </p:spPr>
        </p:pic>
        <p:sp>
          <p:nvSpPr>
            <p:cNvPr id="11" name="ZoneTexte 10"/>
            <p:cNvSpPr txBox="1"/>
            <p:nvPr/>
          </p:nvSpPr>
          <p:spPr>
            <a:xfrm>
              <a:off x="238169" y="1529282"/>
              <a:ext cx="2987663" cy="2062103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800" smtClean="0">
                  <a:solidFill>
                    <a:srgbClr val="008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/*non generated*/</a:t>
              </a:r>
              <a:endParaRPr lang="fr-FR" sz="80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int</a:t>
              </a:r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sum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 b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int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a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int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b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{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</a:t>
              </a:r>
              <a:r>
                <a:rPr lang="fr-FR" sz="800" b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int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size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{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int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varName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=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a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BEncAsnContent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(&amp;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pBuffer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&amp;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varName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size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+=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 smtClean="0">
                  <a:solidFill>
                    <a:srgbClr val="0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sizeof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a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}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{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int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varName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=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b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BEncAsnContent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(&amp;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pBuffer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&amp;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varName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size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+=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 smtClean="0">
                  <a:solidFill>
                    <a:srgbClr val="0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sizeof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b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}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</a:t>
              </a: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send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pBuffer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size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}</a:t>
              </a:r>
              <a:endParaRPr lang="fr-FR" sz="800"/>
            </a:p>
          </p:txBody>
        </p:sp>
        <p:cxnSp>
          <p:nvCxnSpPr>
            <p:cNvPr id="12" name="Connecteur droit avec flèche 11"/>
            <p:cNvCxnSpPr>
              <a:stCxn id="10" idx="2"/>
              <a:endCxn id="11" idx="0"/>
            </p:cNvCxnSpPr>
            <p:nvPr/>
          </p:nvCxnSpPr>
          <p:spPr>
            <a:xfrm flipH="1">
              <a:off x="1732001" y="1070478"/>
              <a:ext cx="898" cy="4588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ZoneTexte 15"/>
            <p:cNvSpPr txBox="1"/>
            <p:nvPr/>
          </p:nvSpPr>
          <p:spPr>
            <a:xfrm>
              <a:off x="601429" y="1116966"/>
              <a:ext cx="11336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smtClean="0"/>
                <a:t>Code generation</a:t>
              </a:r>
              <a:endParaRPr lang="fr-FR" sz="1100"/>
            </a:p>
          </p:txBody>
        </p:sp>
        <p:cxnSp>
          <p:nvCxnSpPr>
            <p:cNvPr id="17" name="Connecteur droit avec flèche 16"/>
            <p:cNvCxnSpPr>
              <a:stCxn id="16" idx="3"/>
              <a:endCxn id="9" idx="1"/>
            </p:cNvCxnSpPr>
            <p:nvPr/>
          </p:nvCxnSpPr>
          <p:spPr>
            <a:xfrm>
              <a:off x="1735074" y="1247771"/>
              <a:ext cx="1560025" cy="18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ZoneTexte 17"/>
            <p:cNvSpPr txBox="1"/>
            <p:nvPr/>
          </p:nvSpPr>
          <p:spPr>
            <a:xfrm>
              <a:off x="1993852" y="1028023"/>
              <a:ext cx="105189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smtClean="0"/>
                <a:t>Use template T</a:t>
              </a:r>
              <a:endParaRPr lang="fr-FR" sz="1100"/>
            </a:p>
          </p:txBody>
        </p:sp>
        <p:sp>
          <p:nvSpPr>
            <p:cNvPr id="19" name="ZoneTexte 18"/>
            <p:cNvSpPr txBox="1"/>
            <p:nvPr/>
          </p:nvSpPr>
          <p:spPr>
            <a:xfrm>
              <a:off x="2030737" y="1317228"/>
              <a:ext cx="11208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smtClean="0"/>
                <a:t>Generated code C</a:t>
              </a:r>
              <a:endParaRPr lang="fr-FR" sz="1000"/>
            </a:p>
          </p:txBody>
        </p:sp>
        <p:sp>
          <p:nvSpPr>
            <p:cNvPr id="20" name="ZoneTexte 19"/>
            <p:cNvSpPr txBox="1"/>
            <p:nvPr/>
          </p:nvSpPr>
          <p:spPr>
            <a:xfrm>
              <a:off x="5743560" y="166365"/>
              <a:ext cx="8274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smtClean="0"/>
                <a:t>Template T</a:t>
              </a:r>
              <a:endParaRPr lang="fr-FR" sz="1100"/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3295098" y="427975"/>
              <a:ext cx="3341216" cy="164331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fr-FR" sz="80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public</a:t>
              </a:r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def marshall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Operation op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{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</a:t>
              </a:r>
              <a:r>
                <a:rPr lang="fr-FR" sz="800" b="0" smtClean="0">
                  <a:solidFill>
                    <a:srgbClr val="808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''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'</a:t>
              </a:r>
            </a:p>
            <a:p>
              <a:r>
                <a:rPr lang="fr-FR" sz="800" b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</a:t>
              </a:r>
              <a:r>
                <a:rPr lang="fr-FR" sz="800" b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int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size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=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0" smtClean="0">
                  <a:solidFill>
                    <a:srgbClr val="FF8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0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«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FOR p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: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op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.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InOutParameters»</a:t>
              </a: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{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«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p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.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type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.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cppType» varName_ASN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=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«p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.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name»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BEncAsnContent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(&amp;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pBuffer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&amp;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varName_ASN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   size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+=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sizeof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«p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.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name»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}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«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ENDFOR»</a:t>
              </a:r>
            </a:p>
            <a:p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 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send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(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pBuffer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,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size</a:t>
              </a:r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);</a:t>
              </a:r>
              <a:endPara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endParaRPr>
            </a:p>
            <a:p>
              <a:r>
                <a:rPr lang="fr-FR" sz="80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</a:t>
              </a:r>
              <a:r>
                <a:rPr lang="fr-FR" sz="80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  </a:t>
              </a:r>
              <a:r>
                <a:rPr lang="fr-FR" sz="800" b="0" smtClean="0">
                  <a:solidFill>
                    <a:srgbClr val="808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''</a:t>
              </a:r>
              <a:r>
                <a:rPr lang="fr-FR" sz="800" b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'</a:t>
              </a:r>
            </a:p>
            <a:p>
              <a:r>
                <a:rPr lang="fr-FR" sz="800" b="1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rPr>
                <a:t>}</a:t>
              </a:r>
              <a:endParaRPr lang="fr-FR" sz="800"/>
            </a:p>
          </p:txBody>
        </p:sp>
      </p:grpSp>
      <p:sp>
        <p:nvSpPr>
          <p:cNvPr id="35" name="ZoneTexte 34"/>
          <p:cNvSpPr txBox="1"/>
          <p:nvPr/>
        </p:nvSpPr>
        <p:spPr>
          <a:xfrm>
            <a:off x="1010518" y="6294653"/>
            <a:ext cx="351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mtClean="0"/>
              <a:t>(a)</a:t>
            </a:r>
            <a:endParaRPr lang="fr-FR" sz="1200"/>
          </a:p>
        </p:txBody>
      </p:sp>
      <p:sp>
        <p:nvSpPr>
          <p:cNvPr id="36" name="ZoneTexte 35"/>
          <p:cNvSpPr txBox="1"/>
          <p:nvPr/>
        </p:nvSpPr>
        <p:spPr>
          <a:xfrm>
            <a:off x="8587476" y="6294653"/>
            <a:ext cx="357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mtClean="0"/>
              <a:t>(b)</a:t>
            </a:r>
            <a:endParaRPr lang="fr-FR" sz="1200"/>
          </a:p>
        </p:txBody>
      </p:sp>
    </p:spTree>
    <p:extLst>
      <p:ext uri="{BB962C8B-B14F-4D97-AF65-F5344CB8AC3E}">
        <p14:creationId xmlns:p14="http://schemas.microsoft.com/office/powerpoint/2010/main" val="40992992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283</Words>
  <Application>Microsoft Office PowerPoint</Application>
  <PresentationFormat>Grand écran</PresentationFormat>
  <Paragraphs>66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Thème Office</vt:lpstr>
      <vt:lpstr>Présentation PowerPoint</vt:lpstr>
    </vt:vector>
  </TitlesOfParts>
  <Company>Commissariat à l'Energie Atomique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PHAM Van Cam</dc:creator>
  <cp:lastModifiedBy>PHAM Van Cam</cp:lastModifiedBy>
  <cp:revision>9</cp:revision>
  <dcterms:created xsi:type="dcterms:W3CDTF">2016-08-01T20:01:52Z</dcterms:created>
  <dcterms:modified xsi:type="dcterms:W3CDTF">2016-08-02T11:54:04Z</dcterms:modified>
</cp:coreProperties>
</file>