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61" r:id="rId2"/>
    <p:sldId id="300" r:id="rId3"/>
    <p:sldId id="398" r:id="rId4"/>
    <p:sldId id="396" r:id="rId5"/>
    <p:sldId id="403" r:id="rId6"/>
    <p:sldId id="410" r:id="rId7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37" clrIdx="0"/>
  <p:cmAuthor id="1" name="RADERMACHER Ansgar 206501" initials="RA2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E2AC00"/>
    <a:srgbClr val="5F5F5F"/>
    <a:srgbClr val="53D6F5"/>
    <a:srgbClr val="C6F3FC"/>
    <a:srgbClr val="1F497D"/>
    <a:srgbClr val="FF6600"/>
    <a:srgbClr val="FF3300"/>
    <a:srgbClr val="CC00C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5643" autoAdjust="0"/>
  </p:normalViewPr>
  <p:slideViewPr>
    <p:cSldViewPr>
      <p:cViewPr varScale="1">
        <p:scale>
          <a:sx n="111" d="100"/>
          <a:sy n="111" d="100"/>
        </p:scale>
        <p:origin x="23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C5E777-E9E3-48C3-AE0A-AAB15A1CCF0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FA81C4C2-0E6E-49AE-A529-6F63A5C76F43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Reverse code to model</a:t>
          </a:r>
          <a:endParaRPr lang="fr-FR" dirty="0"/>
        </a:p>
      </dgm:t>
    </dgm:pt>
    <dgm:pt modelId="{9482FAFF-2905-42D2-B846-84B83AB62137}" type="parTrans" cxnId="{FBBB3FDF-C89D-4188-BAF2-F03E769B7A57}">
      <dgm:prSet/>
      <dgm:spPr/>
      <dgm:t>
        <a:bodyPr/>
        <a:lstStyle/>
        <a:p>
          <a:endParaRPr lang="fr-FR"/>
        </a:p>
      </dgm:t>
    </dgm:pt>
    <dgm:pt modelId="{D49119DE-D277-4CF6-9977-D8F7FBD61B1B}" type="sibTrans" cxnId="{FBBB3FDF-C89D-4188-BAF2-F03E769B7A57}">
      <dgm:prSet/>
      <dgm:spPr/>
      <dgm:t>
        <a:bodyPr/>
        <a:lstStyle/>
        <a:p>
          <a:endParaRPr lang="fr-FR"/>
        </a:p>
      </dgm:t>
    </dgm:pt>
    <dgm:pt modelId="{55C52B21-4B7C-4D04-B33E-DE6135BCFCCB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 smtClean="0"/>
            <a:t>Define</a:t>
          </a:r>
          <a:r>
            <a:rPr lang="fr-FR" dirty="0" smtClean="0"/>
            <a:t> architecture</a:t>
          </a:r>
          <a:endParaRPr lang="fr-FR" dirty="0"/>
        </a:p>
      </dgm:t>
    </dgm:pt>
    <dgm:pt modelId="{FC4154E1-2567-4B5E-B588-D6C8EAA91386}" type="parTrans" cxnId="{5522A25A-C796-4808-8EFC-1BC787F2A204}">
      <dgm:prSet/>
      <dgm:spPr/>
      <dgm:t>
        <a:bodyPr/>
        <a:lstStyle/>
        <a:p>
          <a:endParaRPr lang="fr-FR"/>
        </a:p>
      </dgm:t>
    </dgm:pt>
    <dgm:pt modelId="{52030286-5DFF-4825-9637-1F4BE223CB90}" type="sibTrans" cxnId="{5522A25A-C796-4808-8EFC-1BC787F2A204}">
      <dgm:prSet/>
      <dgm:spPr/>
      <dgm:t>
        <a:bodyPr/>
        <a:lstStyle/>
        <a:p>
          <a:endParaRPr lang="fr-FR"/>
        </a:p>
      </dgm:t>
    </dgm:pt>
    <dgm:pt modelId="{FC03BAE9-ADC5-4166-873A-9BE1D5CC2E6D}">
      <dgm:prSet phldrT="[Texte]"/>
      <dgm:spPr>
        <a:solidFill>
          <a:srgbClr val="FF9933"/>
        </a:solidFill>
      </dgm:spPr>
      <dgm:t>
        <a:bodyPr/>
        <a:lstStyle/>
        <a:p>
          <a:r>
            <a:rPr lang="fr-FR" dirty="0" smtClean="0"/>
            <a:t>Model C/C++ </a:t>
          </a:r>
          <a:r>
            <a:rPr lang="fr-FR" dirty="0" err="1" smtClean="0"/>
            <a:t>features</a:t>
          </a:r>
          <a:endParaRPr lang="fr-FR" dirty="0"/>
        </a:p>
      </dgm:t>
    </dgm:pt>
    <dgm:pt modelId="{B162DB76-25DC-4E97-A1EC-15268F6DD27C}" type="parTrans" cxnId="{B208F43E-E83F-4EBA-BD4B-74DB1DC3F096}">
      <dgm:prSet/>
      <dgm:spPr/>
      <dgm:t>
        <a:bodyPr/>
        <a:lstStyle/>
        <a:p>
          <a:endParaRPr lang="fr-FR"/>
        </a:p>
      </dgm:t>
    </dgm:pt>
    <dgm:pt modelId="{A375F0A3-20C9-4834-9C39-846D00E23BDE}" type="sibTrans" cxnId="{B208F43E-E83F-4EBA-BD4B-74DB1DC3F096}">
      <dgm:prSet/>
      <dgm:spPr/>
      <dgm:t>
        <a:bodyPr/>
        <a:lstStyle/>
        <a:p>
          <a:endParaRPr lang="fr-FR"/>
        </a:p>
      </dgm:t>
    </dgm:pt>
    <dgm:pt modelId="{51B70F88-6A89-435A-AA41-399F871A0346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 smtClean="0"/>
            <a:t>Graphical</a:t>
          </a:r>
          <a:r>
            <a:rPr lang="fr-FR" dirty="0" smtClean="0"/>
            <a:t> </a:t>
          </a:r>
          <a:r>
            <a:rPr lang="fr-FR" dirty="0" err="1" smtClean="0"/>
            <a:t>diagrams</a:t>
          </a:r>
          <a:endParaRPr lang="fr-FR" dirty="0"/>
        </a:p>
      </dgm:t>
    </dgm:pt>
    <dgm:pt modelId="{C39CBD9B-C06E-4245-AAFB-B5B389D293EE}" type="parTrans" cxnId="{7F0887F0-E161-4963-9CBC-0CC8792450E0}">
      <dgm:prSet/>
      <dgm:spPr/>
      <dgm:t>
        <a:bodyPr/>
        <a:lstStyle/>
        <a:p>
          <a:endParaRPr lang="fr-FR"/>
        </a:p>
      </dgm:t>
    </dgm:pt>
    <dgm:pt modelId="{5B908CDD-E727-4FB9-B8E9-833BEA6BFB65}" type="sibTrans" cxnId="{7F0887F0-E161-4963-9CBC-0CC8792450E0}">
      <dgm:prSet/>
      <dgm:spPr/>
      <dgm:t>
        <a:bodyPr/>
        <a:lstStyle/>
        <a:p>
          <a:endParaRPr lang="fr-FR"/>
        </a:p>
      </dgm:t>
    </dgm:pt>
    <dgm:pt modelId="{431E881D-FD2F-432D-ADEA-094912B656F4}">
      <dgm:prSet phldrT="[Texte]"/>
      <dgm:spPr>
        <a:solidFill>
          <a:srgbClr val="FF9933"/>
        </a:solidFill>
      </dgm:spPr>
      <dgm:t>
        <a:bodyPr/>
        <a:lstStyle/>
        <a:p>
          <a:r>
            <a:rPr lang="fr-FR" dirty="0" err="1" smtClean="0"/>
            <a:t>Modify</a:t>
          </a:r>
          <a:r>
            <a:rPr lang="fr-FR" dirty="0" smtClean="0"/>
            <a:t> code </a:t>
          </a:r>
          <a:r>
            <a:rPr lang="fr-FR" dirty="0" err="1" smtClean="0"/>
            <a:t>generation</a:t>
          </a:r>
          <a:r>
            <a:rPr lang="fr-FR" dirty="0" smtClean="0"/>
            <a:t> </a:t>
          </a:r>
          <a:r>
            <a:rPr lang="fr-FR" dirty="0" err="1" smtClean="0"/>
            <a:t>framework</a:t>
          </a:r>
          <a:endParaRPr lang="fr-FR" dirty="0"/>
        </a:p>
      </dgm:t>
    </dgm:pt>
    <dgm:pt modelId="{14D3A696-2AF1-484C-9D5C-8BE8FDEAF6FB}" type="parTrans" cxnId="{32913779-C377-48C8-899D-BD0BBAF9352E}">
      <dgm:prSet/>
      <dgm:spPr/>
      <dgm:t>
        <a:bodyPr/>
        <a:lstStyle/>
        <a:p>
          <a:endParaRPr lang="fr-FR"/>
        </a:p>
      </dgm:t>
    </dgm:pt>
    <dgm:pt modelId="{1BC6BCFF-3005-4676-BAC7-6AAAE564B534}" type="sibTrans" cxnId="{32913779-C377-48C8-899D-BD0BBAF9352E}">
      <dgm:prSet/>
      <dgm:spPr/>
      <dgm:t>
        <a:bodyPr/>
        <a:lstStyle/>
        <a:p>
          <a:endParaRPr lang="fr-FR"/>
        </a:p>
      </dgm:t>
    </dgm:pt>
    <dgm:pt modelId="{F993E8B1-5CC5-4E40-A558-906BE8FDB31C}">
      <dgm:prSet phldrT="[Texte]"/>
      <dgm:spPr>
        <a:solidFill>
          <a:srgbClr val="FF9933"/>
        </a:solidFill>
      </dgm:spPr>
      <dgm:t>
        <a:bodyPr/>
        <a:lstStyle/>
        <a:p>
          <a:r>
            <a:rPr lang="fr-FR" dirty="0" smtClean="0"/>
            <a:t>Compile and </a:t>
          </a:r>
          <a:r>
            <a:rPr lang="fr-FR" dirty="0" err="1" smtClean="0"/>
            <a:t>debug</a:t>
          </a:r>
          <a:endParaRPr lang="fr-FR" dirty="0"/>
        </a:p>
      </dgm:t>
    </dgm:pt>
    <dgm:pt modelId="{4080B47C-66CC-4B6E-88CC-04E9AF221E09}" type="parTrans" cxnId="{5B768A43-A0F4-43D6-9F80-220CEDFCA762}">
      <dgm:prSet/>
      <dgm:spPr/>
      <dgm:t>
        <a:bodyPr/>
        <a:lstStyle/>
        <a:p>
          <a:endParaRPr lang="fr-FR"/>
        </a:p>
      </dgm:t>
    </dgm:pt>
    <dgm:pt modelId="{AC43B8AC-EE22-4AB8-8E32-40BDE2326444}" type="sibTrans" cxnId="{5B768A43-A0F4-43D6-9F80-220CEDFCA762}">
      <dgm:prSet/>
      <dgm:spPr/>
      <dgm:t>
        <a:bodyPr/>
        <a:lstStyle/>
        <a:p>
          <a:endParaRPr lang="fr-FR"/>
        </a:p>
      </dgm:t>
    </dgm:pt>
    <dgm:pt modelId="{12C24871-AE18-41CD-9A1C-854252416226}">
      <dgm:prSet phldrT="[Texte]"/>
      <dgm:spPr/>
      <dgm:t>
        <a:bodyPr/>
        <a:lstStyle/>
        <a:p>
          <a:r>
            <a:rPr lang="fr-FR" dirty="0" smtClean="0"/>
            <a:t>Doc on </a:t>
          </a:r>
          <a:r>
            <a:rPr lang="fr-FR" dirty="0" err="1" smtClean="0"/>
            <a:t>modeling</a:t>
          </a:r>
          <a:r>
            <a:rPr lang="fr-FR" dirty="0" smtClean="0"/>
            <a:t> </a:t>
          </a:r>
          <a:r>
            <a:rPr lang="fr-FR" dirty="0" err="1" smtClean="0"/>
            <a:t>method</a:t>
          </a:r>
          <a:r>
            <a:rPr lang="fr-FR" dirty="0" smtClean="0"/>
            <a:t> and </a:t>
          </a:r>
          <a:r>
            <a:rPr lang="fr-FR" dirty="0" err="1" smtClean="0"/>
            <a:t>rules</a:t>
          </a:r>
          <a:endParaRPr lang="fr-FR" dirty="0"/>
        </a:p>
      </dgm:t>
    </dgm:pt>
    <dgm:pt modelId="{5C96B9A6-7998-4E7A-8A40-45821077AD9F}" type="parTrans" cxnId="{379369FB-42D6-4D1F-A629-90CD967DCDC5}">
      <dgm:prSet/>
      <dgm:spPr/>
      <dgm:t>
        <a:bodyPr/>
        <a:lstStyle/>
        <a:p>
          <a:endParaRPr lang="fr-FR"/>
        </a:p>
      </dgm:t>
    </dgm:pt>
    <dgm:pt modelId="{96F4101A-EF76-4242-9A76-854CAD4335B7}" type="sibTrans" cxnId="{379369FB-42D6-4D1F-A629-90CD967DCDC5}">
      <dgm:prSet/>
      <dgm:spPr/>
      <dgm:t>
        <a:bodyPr/>
        <a:lstStyle/>
        <a:p>
          <a:endParaRPr lang="fr-FR"/>
        </a:p>
      </dgm:t>
    </dgm:pt>
    <dgm:pt modelId="{7EF0A174-EF57-4B71-A15C-970A068A58BB}">
      <dgm:prSet phldrT="[Texte]"/>
      <dgm:spPr/>
      <dgm:t>
        <a:bodyPr/>
        <a:lstStyle/>
        <a:p>
          <a:r>
            <a:rPr lang="fr-FR" dirty="0" smtClean="0"/>
            <a:t>Share stable version</a:t>
          </a:r>
          <a:endParaRPr lang="fr-FR" dirty="0"/>
        </a:p>
      </dgm:t>
    </dgm:pt>
    <dgm:pt modelId="{BC746F36-BC0D-41A3-9475-C82194166728}" type="parTrans" cxnId="{C81747AC-D121-4ECA-80DA-AF61DDE8BB81}">
      <dgm:prSet/>
      <dgm:spPr/>
      <dgm:t>
        <a:bodyPr/>
        <a:lstStyle/>
        <a:p>
          <a:endParaRPr lang="fr-FR"/>
        </a:p>
      </dgm:t>
    </dgm:pt>
    <dgm:pt modelId="{FC6F8BFB-D3D5-41B2-9E29-A94C55C8A5CE}" type="sibTrans" cxnId="{C81747AC-D121-4ECA-80DA-AF61DDE8BB81}">
      <dgm:prSet/>
      <dgm:spPr/>
      <dgm:t>
        <a:bodyPr/>
        <a:lstStyle/>
        <a:p>
          <a:endParaRPr lang="fr-FR"/>
        </a:p>
      </dgm:t>
    </dgm:pt>
    <dgm:pt modelId="{6E014CDF-CE16-4F94-A778-32693B103E4A}">
      <dgm:prSet phldrT="[Texte]"/>
      <dgm:spPr/>
      <dgm:t>
        <a:bodyPr/>
        <a:lstStyle/>
        <a:p>
          <a:r>
            <a:rPr lang="fr-FR" dirty="0" err="1" smtClean="0"/>
            <a:t>Execution</a:t>
          </a:r>
          <a:r>
            <a:rPr lang="fr-FR" dirty="0" smtClean="0"/>
            <a:t> and </a:t>
          </a:r>
          <a:r>
            <a:rPr lang="fr-FR" dirty="0" err="1" smtClean="0"/>
            <a:t>diff</a:t>
          </a:r>
          <a:endParaRPr lang="fr-FR" dirty="0"/>
        </a:p>
      </dgm:t>
    </dgm:pt>
    <dgm:pt modelId="{C2759915-F102-46CC-A96A-C97591E591C6}" type="parTrans" cxnId="{99062E04-051D-48A1-B24D-6C583F0E6885}">
      <dgm:prSet/>
      <dgm:spPr/>
      <dgm:t>
        <a:bodyPr/>
        <a:lstStyle/>
        <a:p>
          <a:endParaRPr lang="fr-FR"/>
        </a:p>
      </dgm:t>
    </dgm:pt>
    <dgm:pt modelId="{505EA8C3-4468-4AC6-A978-5DE6A645615A}" type="sibTrans" cxnId="{99062E04-051D-48A1-B24D-6C583F0E6885}">
      <dgm:prSet/>
      <dgm:spPr/>
      <dgm:t>
        <a:bodyPr/>
        <a:lstStyle/>
        <a:p>
          <a:endParaRPr lang="fr-FR"/>
        </a:p>
      </dgm:t>
    </dgm:pt>
    <dgm:pt modelId="{11964201-2FCA-4556-BD67-A0760831CD60}" type="pres">
      <dgm:prSet presAssocID="{FEC5E777-E9E3-48C3-AE0A-AAB15A1CCF0E}" presName="CompostProcess" presStyleCnt="0">
        <dgm:presLayoutVars>
          <dgm:dir/>
          <dgm:resizeHandles val="exact"/>
        </dgm:presLayoutVars>
      </dgm:prSet>
      <dgm:spPr/>
    </dgm:pt>
    <dgm:pt modelId="{5575CF86-3724-4C09-81A0-52B123719802}" type="pres">
      <dgm:prSet presAssocID="{FEC5E777-E9E3-48C3-AE0A-AAB15A1CCF0E}" presName="arrow" presStyleLbl="bgShp" presStyleIdx="0" presStyleCnt="1"/>
      <dgm:spPr/>
    </dgm:pt>
    <dgm:pt modelId="{38458115-55E2-41C5-8BA5-3F546937AAF8}" type="pres">
      <dgm:prSet presAssocID="{FEC5E777-E9E3-48C3-AE0A-AAB15A1CCF0E}" presName="linearProcess" presStyleCnt="0"/>
      <dgm:spPr/>
    </dgm:pt>
    <dgm:pt modelId="{4A5D5DCE-0F95-4AAF-A041-B6F00040E7DE}" type="pres">
      <dgm:prSet presAssocID="{FA81C4C2-0E6E-49AE-A529-6F63A5C76F43}" presName="text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DF9234E-EAEF-4BC8-AEAB-64E238E2A38A}" type="pres">
      <dgm:prSet presAssocID="{D49119DE-D277-4CF6-9977-D8F7FBD61B1B}" presName="sibTrans" presStyleCnt="0"/>
      <dgm:spPr/>
    </dgm:pt>
    <dgm:pt modelId="{30F8086F-DEE2-4898-90FF-F707B7E5B4EE}" type="pres">
      <dgm:prSet presAssocID="{51B70F88-6A89-435A-AA41-399F871A0346}" presName="text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A968742-A327-4582-89EB-FC68D2876110}" type="pres">
      <dgm:prSet presAssocID="{5B908CDD-E727-4FB9-B8E9-833BEA6BFB65}" presName="sibTrans" presStyleCnt="0"/>
      <dgm:spPr/>
    </dgm:pt>
    <dgm:pt modelId="{3F956CAC-14E7-4543-9716-4ADAFE6723CB}" type="pres">
      <dgm:prSet presAssocID="{55C52B21-4B7C-4D04-B33E-DE6135BCFCCB}" presName="text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A024111-DE51-4248-8C74-A0F3A9039947}" type="pres">
      <dgm:prSet presAssocID="{52030286-5DFF-4825-9637-1F4BE223CB90}" presName="sibTrans" presStyleCnt="0"/>
      <dgm:spPr/>
    </dgm:pt>
    <dgm:pt modelId="{4CA198CC-D8ED-4FF3-8B77-98F400B8D86E}" type="pres">
      <dgm:prSet presAssocID="{FC03BAE9-ADC5-4166-873A-9BE1D5CC2E6D}" presName="text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3CB6B86-72A8-44AF-91D4-4013FB9E9597}" type="pres">
      <dgm:prSet presAssocID="{A375F0A3-20C9-4834-9C39-846D00E23BDE}" presName="sibTrans" presStyleCnt="0"/>
      <dgm:spPr/>
    </dgm:pt>
    <dgm:pt modelId="{6B088489-4E0D-4A35-A59A-DBAD0DF8D8DC}" type="pres">
      <dgm:prSet presAssocID="{431E881D-FD2F-432D-ADEA-094912B656F4}" presName="text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EFE1C05-A7E5-4CAB-9E1B-6AB0992C4F85}" type="pres">
      <dgm:prSet presAssocID="{1BC6BCFF-3005-4676-BAC7-6AAAE564B534}" presName="sibTrans" presStyleCnt="0"/>
      <dgm:spPr/>
    </dgm:pt>
    <dgm:pt modelId="{5B25A2EB-A91C-4182-89D8-CE07A1F9A48E}" type="pres">
      <dgm:prSet presAssocID="{F993E8B1-5CC5-4E40-A558-906BE8FDB31C}" presName="text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633CB4A-7CFF-4E6E-8B76-6DC742CC7F57}" type="pres">
      <dgm:prSet presAssocID="{AC43B8AC-EE22-4AB8-8E32-40BDE2326444}" presName="sibTrans" presStyleCnt="0"/>
      <dgm:spPr/>
    </dgm:pt>
    <dgm:pt modelId="{7D5793C8-D822-4355-BA93-1672F3650A3F}" type="pres">
      <dgm:prSet presAssocID="{7EF0A174-EF57-4B71-A15C-970A068A58BB}" presName="text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2471044-2E02-4000-8944-253297968CEB}" type="pres">
      <dgm:prSet presAssocID="{FC6F8BFB-D3D5-41B2-9E29-A94C55C8A5CE}" presName="sibTrans" presStyleCnt="0"/>
      <dgm:spPr/>
    </dgm:pt>
    <dgm:pt modelId="{1494CE82-E120-49E8-857D-B8FDBD1EFA3A}" type="pres">
      <dgm:prSet presAssocID="{6E014CDF-CE16-4F94-A778-32693B103E4A}" presName="text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AC3F43-07BE-46B2-A59B-6DDDEA82E6E5}" type="pres">
      <dgm:prSet presAssocID="{505EA8C3-4468-4AC6-A978-5DE6A645615A}" presName="sibTrans" presStyleCnt="0"/>
      <dgm:spPr/>
    </dgm:pt>
    <dgm:pt modelId="{FD27405B-C40A-48A1-8A42-0D93E7EAA932}" type="pres">
      <dgm:prSet presAssocID="{12C24871-AE18-41CD-9A1C-854252416226}" presName="text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9062E04-051D-48A1-B24D-6C583F0E6885}" srcId="{FEC5E777-E9E3-48C3-AE0A-AAB15A1CCF0E}" destId="{6E014CDF-CE16-4F94-A778-32693B103E4A}" srcOrd="7" destOrd="0" parTransId="{C2759915-F102-46CC-A96A-C97591E591C6}" sibTransId="{505EA8C3-4468-4AC6-A978-5DE6A645615A}"/>
    <dgm:cxn modelId="{5B768A43-A0F4-43D6-9F80-220CEDFCA762}" srcId="{FEC5E777-E9E3-48C3-AE0A-AAB15A1CCF0E}" destId="{F993E8B1-5CC5-4E40-A558-906BE8FDB31C}" srcOrd="5" destOrd="0" parTransId="{4080B47C-66CC-4B6E-88CC-04E9AF221E09}" sibTransId="{AC43B8AC-EE22-4AB8-8E32-40BDE2326444}"/>
    <dgm:cxn modelId="{865B8149-5BD0-47F2-9785-8D7017E49FDB}" type="presOf" srcId="{12C24871-AE18-41CD-9A1C-854252416226}" destId="{FD27405B-C40A-48A1-8A42-0D93E7EAA932}" srcOrd="0" destOrd="0" presId="urn:microsoft.com/office/officeart/2005/8/layout/hProcess9"/>
    <dgm:cxn modelId="{18A110C2-39D9-4B7E-BA8F-A02E1965FE50}" type="presOf" srcId="{6E014CDF-CE16-4F94-A778-32693B103E4A}" destId="{1494CE82-E120-49E8-857D-B8FDBD1EFA3A}" srcOrd="0" destOrd="0" presId="urn:microsoft.com/office/officeart/2005/8/layout/hProcess9"/>
    <dgm:cxn modelId="{A5A77075-CC82-402D-95A5-B97CC2B5DF76}" type="presOf" srcId="{F993E8B1-5CC5-4E40-A558-906BE8FDB31C}" destId="{5B25A2EB-A91C-4182-89D8-CE07A1F9A48E}" srcOrd="0" destOrd="0" presId="urn:microsoft.com/office/officeart/2005/8/layout/hProcess9"/>
    <dgm:cxn modelId="{2171330F-F8C4-43AC-B446-EAFA21D8C6DE}" type="presOf" srcId="{51B70F88-6A89-435A-AA41-399F871A0346}" destId="{30F8086F-DEE2-4898-90FF-F707B7E5B4EE}" srcOrd="0" destOrd="0" presId="urn:microsoft.com/office/officeart/2005/8/layout/hProcess9"/>
    <dgm:cxn modelId="{379369FB-42D6-4D1F-A629-90CD967DCDC5}" srcId="{FEC5E777-E9E3-48C3-AE0A-AAB15A1CCF0E}" destId="{12C24871-AE18-41CD-9A1C-854252416226}" srcOrd="8" destOrd="0" parTransId="{5C96B9A6-7998-4E7A-8A40-45821077AD9F}" sibTransId="{96F4101A-EF76-4242-9A76-854CAD4335B7}"/>
    <dgm:cxn modelId="{3FA24333-4DC4-499B-9129-FB48F06D65EA}" type="presOf" srcId="{55C52B21-4B7C-4D04-B33E-DE6135BCFCCB}" destId="{3F956CAC-14E7-4543-9716-4ADAFE6723CB}" srcOrd="0" destOrd="0" presId="urn:microsoft.com/office/officeart/2005/8/layout/hProcess9"/>
    <dgm:cxn modelId="{7F0887F0-E161-4963-9CBC-0CC8792450E0}" srcId="{FEC5E777-E9E3-48C3-AE0A-AAB15A1CCF0E}" destId="{51B70F88-6A89-435A-AA41-399F871A0346}" srcOrd="1" destOrd="0" parTransId="{C39CBD9B-C06E-4245-AAFB-B5B389D293EE}" sibTransId="{5B908CDD-E727-4FB9-B8E9-833BEA6BFB65}"/>
    <dgm:cxn modelId="{BB330722-A72A-4D17-AC50-9E1B433F58C9}" type="presOf" srcId="{7EF0A174-EF57-4B71-A15C-970A068A58BB}" destId="{7D5793C8-D822-4355-BA93-1672F3650A3F}" srcOrd="0" destOrd="0" presId="urn:microsoft.com/office/officeart/2005/8/layout/hProcess9"/>
    <dgm:cxn modelId="{32913779-C377-48C8-899D-BD0BBAF9352E}" srcId="{FEC5E777-E9E3-48C3-AE0A-AAB15A1CCF0E}" destId="{431E881D-FD2F-432D-ADEA-094912B656F4}" srcOrd="4" destOrd="0" parTransId="{14D3A696-2AF1-484C-9D5C-8BE8FDEAF6FB}" sibTransId="{1BC6BCFF-3005-4676-BAC7-6AAAE564B534}"/>
    <dgm:cxn modelId="{01E4A910-C4A8-4EE8-A17F-D060EF37BD95}" type="presOf" srcId="{FEC5E777-E9E3-48C3-AE0A-AAB15A1CCF0E}" destId="{11964201-2FCA-4556-BD67-A0760831CD60}" srcOrd="0" destOrd="0" presId="urn:microsoft.com/office/officeart/2005/8/layout/hProcess9"/>
    <dgm:cxn modelId="{2136857B-5784-4CBB-A542-E082A7330EEE}" type="presOf" srcId="{FC03BAE9-ADC5-4166-873A-9BE1D5CC2E6D}" destId="{4CA198CC-D8ED-4FF3-8B77-98F400B8D86E}" srcOrd="0" destOrd="0" presId="urn:microsoft.com/office/officeart/2005/8/layout/hProcess9"/>
    <dgm:cxn modelId="{96C9D196-7566-453B-9A7A-8945B67E9F76}" type="presOf" srcId="{FA81C4C2-0E6E-49AE-A529-6F63A5C76F43}" destId="{4A5D5DCE-0F95-4AAF-A041-B6F00040E7DE}" srcOrd="0" destOrd="0" presId="urn:microsoft.com/office/officeart/2005/8/layout/hProcess9"/>
    <dgm:cxn modelId="{C81747AC-D121-4ECA-80DA-AF61DDE8BB81}" srcId="{FEC5E777-E9E3-48C3-AE0A-AAB15A1CCF0E}" destId="{7EF0A174-EF57-4B71-A15C-970A068A58BB}" srcOrd="6" destOrd="0" parTransId="{BC746F36-BC0D-41A3-9475-C82194166728}" sibTransId="{FC6F8BFB-D3D5-41B2-9E29-A94C55C8A5CE}"/>
    <dgm:cxn modelId="{B208F43E-E83F-4EBA-BD4B-74DB1DC3F096}" srcId="{FEC5E777-E9E3-48C3-AE0A-AAB15A1CCF0E}" destId="{FC03BAE9-ADC5-4166-873A-9BE1D5CC2E6D}" srcOrd="3" destOrd="0" parTransId="{B162DB76-25DC-4E97-A1EC-15268F6DD27C}" sibTransId="{A375F0A3-20C9-4834-9C39-846D00E23BDE}"/>
    <dgm:cxn modelId="{CB8A7F9D-7124-4244-A37F-D9246F08BD75}" type="presOf" srcId="{431E881D-FD2F-432D-ADEA-094912B656F4}" destId="{6B088489-4E0D-4A35-A59A-DBAD0DF8D8DC}" srcOrd="0" destOrd="0" presId="urn:microsoft.com/office/officeart/2005/8/layout/hProcess9"/>
    <dgm:cxn modelId="{5522A25A-C796-4808-8EFC-1BC787F2A204}" srcId="{FEC5E777-E9E3-48C3-AE0A-AAB15A1CCF0E}" destId="{55C52B21-4B7C-4D04-B33E-DE6135BCFCCB}" srcOrd="2" destOrd="0" parTransId="{FC4154E1-2567-4B5E-B588-D6C8EAA91386}" sibTransId="{52030286-5DFF-4825-9637-1F4BE223CB90}"/>
    <dgm:cxn modelId="{FBBB3FDF-C89D-4188-BAF2-F03E769B7A57}" srcId="{FEC5E777-E9E3-48C3-AE0A-AAB15A1CCF0E}" destId="{FA81C4C2-0E6E-49AE-A529-6F63A5C76F43}" srcOrd="0" destOrd="0" parTransId="{9482FAFF-2905-42D2-B846-84B83AB62137}" sibTransId="{D49119DE-D277-4CF6-9977-D8F7FBD61B1B}"/>
    <dgm:cxn modelId="{CD3E45F8-7824-4C40-8721-F58F8CDA67B1}" type="presParOf" srcId="{11964201-2FCA-4556-BD67-A0760831CD60}" destId="{5575CF86-3724-4C09-81A0-52B123719802}" srcOrd="0" destOrd="0" presId="urn:microsoft.com/office/officeart/2005/8/layout/hProcess9"/>
    <dgm:cxn modelId="{D9CA8274-BA8D-40B9-9FE7-53C5F523523F}" type="presParOf" srcId="{11964201-2FCA-4556-BD67-A0760831CD60}" destId="{38458115-55E2-41C5-8BA5-3F546937AAF8}" srcOrd="1" destOrd="0" presId="urn:microsoft.com/office/officeart/2005/8/layout/hProcess9"/>
    <dgm:cxn modelId="{DD133CA2-EA51-4499-9F09-5FD5CB3A2CFE}" type="presParOf" srcId="{38458115-55E2-41C5-8BA5-3F546937AAF8}" destId="{4A5D5DCE-0F95-4AAF-A041-B6F00040E7DE}" srcOrd="0" destOrd="0" presId="urn:microsoft.com/office/officeart/2005/8/layout/hProcess9"/>
    <dgm:cxn modelId="{3BDE0C1F-068F-42C7-B8C4-25A99D112ADB}" type="presParOf" srcId="{38458115-55E2-41C5-8BA5-3F546937AAF8}" destId="{3DF9234E-EAEF-4BC8-AEAB-64E238E2A38A}" srcOrd="1" destOrd="0" presId="urn:microsoft.com/office/officeart/2005/8/layout/hProcess9"/>
    <dgm:cxn modelId="{B2213612-70CE-4CAF-A679-A4C79DADD90D}" type="presParOf" srcId="{38458115-55E2-41C5-8BA5-3F546937AAF8}" destId="{30F8086F-DEE2-4898-90FF-F707B7E5B4EE}" srcOrd="2" destOrd="0" presId="urn:microsoft.com/office/officeart/2005/8/layout/hProcess9"/>
    <dgm:cxn modelId="{E59EF30E-2621-4244-82A2-101526440372}" type="presParOf" srcId="{38458115-55E2-41C5-8BA5-3F546937AAF8}" destId="{1A968742-A327-4582-89EB-FC68D2876110}" srcOrd="3" destOrd="0" presId="urn:microsoft.com/office/officeart/2005/8/layout/hProcess9"/>
    <dgm:cxn modelId="{6BBD8D01-3C31-4A54-83E5-0A5D10CCC510}" type="presParOf" srcId="{38458115-55E2-41C5-8BA5-3F546937AAF8}" destId="{3F956CAC-14E7-4543-9716-4ADAFE6723CB}" srcOrd="4" destOrd="0" presId="urn:microsoft.com/office/officeart/2005/8/layout/hProcess9"/>
    <dgm:cxn modelId="{02EA020D-4DE7-4C08-951F-C40BA61C02C5}" type="presParOf" srcId="{38458115-55E2-41C5-8BA5-3F546937AAF8}" destId="{0A024111-DE51-4248-8C74-A0F3A9039947}" srcOrd="5" destOrd="0" presId="urn:microsoft.com/office/officeart/2005/8/layout/hProcess9"/>
    <dgm:cxn modelId="{24404EEF-553C-4661-AC2C-9811D7848C9C}" type="presParOf" srcId="{38458115-55E2-41C5-8BA5-3F546937AAF8}" destId="{4CA198CC-D8ED-4FF3-8B77-98F400B8D86E}" srcOrd="6" destOrd="0" presId="urn:microsoft.com/office/officeart/2005/8/layout/hProcess9"/>
    <dgm:cxn modelId="{3A497D78-A40A-492B-A66A-6C53F787E94F}" type="presParOf" srcId="{38458115-55E2-41C5-8BA5-3F546937AAF8}" destId="{A3CB6B86-72A8-44AF-91D4-4013FB9E9597}" srcOrd="7" destOrd="0" presId="urn:microsoft.com/office/officeart/2005/8/layout/hProcess9"/>
    <dgm:cxn modelId="{BFC72A57-2619-42E2-8D2E-A510D7BED101}" type="presParOf" srcId="{38458115-55E2-41C5-8BA5-3F546937AAF8}" destId="{6B088489-4E0D-4A35-A59A-DBAD0DF8D8DC}" srcOrd="8" destOrd="0" presId="urn:microsoft.com/office/officeart/2005/8/layout/hProcess9"/>
    <dgm:cxn modelId="{DA657362-AB35-443E-BE0D-13CDCB0BC3C3}" type="presParOf" srcId="{38458115-55E2-41C5-8BA5-3F546937AAF8}" destId="{0EFE1C05-A7E5-4CAB-9E1B-6AB0992C4F85}" srcOrd="9" destOrd="0" presId="urn:microsoft.com/office/officeart/2005/8/layout/hProcess9"/>
    <dgm:cxn modelId="{D8850AA9-2F56-4929-A83A-122C81526E2F}" type="presParOf" srcId="{38458115-55E2-41C5-8BA5-3F546937AAF8}" destId="{5B25A2EB-A91C-4182-89D8-CE07A1F9A48E}" srcOrd="10" destOrd="0" presId="urn:microsoft.com/office/officeart/2005/8/layout/hProcess9"/>
    <dgm:cxn modelId="{69AAFF00-3352-4659-B131-A7BAF2091493}" type="presParOf" srcId="{38458115-55E2-41C5-8BA5-3F546937AAF8}" destId="{6633CB4A-7CFF-4E6E-8B76-6DC742CC7F57}" srcOrd="11" destOrd="0" presId="urn:microsoft.com/office/officeart/2005/8/layout/hProcess9"/>
    <dgm:cxn modelId="{264CEDF7-4E14-4122-A196-841ABE99365F}" type="presParOf" srcId="{38458115-55E2-41C5-8BA5-3F546937AAF8}" destId="{7D5793C8-D822-4355-BA93-1672F3650A3F}" srcOrd="12" destOrd="0" presId="urn:microsoft.com/office/officeart/2005/8/layout/hProcess9"/>
    <dgm:cxn modelId="{9282FE40-2139-4B36-8A05-699F6479ED25}" type="presParOf" srcId="{38458115-55E2-41C5-8BA5-3F546937AAF8}" destId="{12471044-2E02-4000-8944-253297968CEB}" srcOrd="13" destOrd="0" presId="urn:microsoft.com/office/officeart/2005/8/layout/hProcess9"/>
    <dgm:cxn modelId="{7ACA0B7B-790E-49B3-97D0-FADAF8656FC2}" type="presParOf" srcId="{38458115-55E2-41C5-8BA5-3F546937AAF8}" destId="{1494CE82-E120-49E8-857D-B8FDBD1EFA3A}" srcOrd="14" destOrd="0" presId="urn:microsoft.com/office/officeart/2005/8/layout/hProcess9"/>
    <dgm:cxn modelId="{183A667D-132B-479A-A73E-3072C633FB64}" type="presParOf" srcId="{38458115-55E2-41C5-8BA5-3F546937AAF8}" destId="{35AC3F43-07BE-46B2-A59B-6DDDEA82E6E5}" srcOrd="15" destOrd="0" presId="urn:microsoft.com/office/officeart/2005/8/layout/hProcess9"/>
    <dgm:cxn modelId="{4C85FAB0-91EE-43EC-971B-80271995B5F9}" type="presParOf" srcId="{38458115-55E2-41C5-8BA5-3F546937AAF8}" destId="{FD27405B-C40A-48A1-8A42-0D93E7EAA932}" srcOrd="1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16/11/2015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16/11/2015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914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5275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605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6342063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916238" y="6319838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65383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3059113" y="4221163"/>
            <a:ext cx="5905500" cy="1584325"/>
          </a:xfrm>
          <a:prstGeom prst="rect">
            <a:avLst/>
          </a:prstGeom>
        </p:spPr>
        <p:txBody>
          <a:bodyPr anchor="ctr" anchorCtr="0"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6316663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862263" y="6284913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843809" y="4051822"/>
            <a:ext cx="630019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01622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3059113" y="3573463"/>
            <a:ext cx="5905500" cy="287337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077" y="6319838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874963" y="6284913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01622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843808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4941319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7047301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3059113" y="3573463"/>
            <a:ext cx="5905500" cy="287337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5834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3672000" y="1949598"/>
            <a:ext cx="5364496" cy="471976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3672000" y="260649"/>
            <a:ext cx="5292488" cy="1584176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0" y="1628800"/>
            <a:ext cx="8208963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0" y="981075"/>
            <a:ext cx="8208963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5148000" y="2016000"/>
            <a:ext cx="3492000" cy="3690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1" y="1628800"/>
            <a:ext cx="4464298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1" y="981075"/>
            <a:ext cx="446429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5148000" y="2016000"/>
            <a:ext cx="3492000" cy="1980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5148000" y="3999600"/>
            <a:ext cx="1746000" cy="1695600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6894000" y="3999600"/>
            <a:ext cx="1746000" cy="1695600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1" y="1628800"/>
            <a:ext cx="4464298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1" y="981075"/>
            <a:ext cx="446429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576000" y="1458000"/>
            <a:ext cx="8064000" cy="1908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0" y="4077072"/>
            <a:ext cx="8208963" cy="223224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0" y="3429000"/>
            <a:ext cx="8208963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846138"/>
            <a:ext cx="8459787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899592" y="5157788"/>
            <a:ext cx="3240360" cy="863600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5834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3309938" y="0"/>
            <a:ext cx="5834062" cy="580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38800" y="5799600"/>
            <a:ext cx="1897200" cy="9432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39505" y="5799600"/>
            <a:ext cx="3552775" cy="943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552" y="1628800"/>
            <a:ext cx="8208963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Tx/>
              <a:buFont typeface="Wingdings" pitchFamily="2" charset="2"/>
              <a:buChar char="§"/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539552" y="980728"/>
            <a:ext cx="8229600" cy="64800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  <a:prstGeom prst="rect">
            <a:avLst/>
          </a:prstGeom>
        </p:spPr>
        <p:txBody>
          <a:bodyPr anchor="ctr"/>
          <a:lstStyle>
            <a:lvl1pPr algn="l">
              <a:defRPr sz="2000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38" y="223838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Image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88913"/>
            <a:ext cx="14224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0" y="6807200"/>
            <a:ext cx="9144000" cy="539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sp>
        <p:nvSpPr>
          <p:cNvPr id="9" name="ZoneTexte 8"/>
          <p:cNvSpPr txBox="1"/>
          <p:nvPr userDrawn="1"/>
        </p:nvSpPr>
        <p:spPr>
          <a:xfrm>
            <a:off x="8388424" y="727294"/>
            <a:ext cx="755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0AFE106-B932-4D59-A3BB-F68DB35E68B1}" type="slidenum">
              <a:rPr lang="fr-FR" sz="1200" smtClean="0">
                <a:solidFill>
                  <a:srgbClr val="5F5F5F"/>
                </a:solidFill>
              </a:rPr>
              <a:pPr algn="r"/>
              <a:t>‹N°›</a:t>
            </a:fld>
            <a:r>
              <a:rPr lang="fr-FR" sz="1200" dirty="0" smtClean="0">
                <a:solidFill>
                  <a:srgbClr val="5F5F5F"/>
                </a:solidFill>
              </a:rPr>
              <a:t>/6</a:t>
            </a:r>
          </a:p>
        </p:txBody>
      </p:sp>
      <p:sp>
        <p:nvSpPr>
          <p:cNvPr id="15" name="Espace réservé du pied de page 3"/>
          <p:cNvSpPr txBox="1">
            <a:spLocks/>
          </p:cNvSpPr>
          <p:nvPr userDrawn="1"/>
        </p:nvSpPr>
        <p:spPr>
          <a:xfrm>
            <a:off x="468312" y="6563667"/>
            <a:ext cx="8675688" cy="29051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rgbClr val="5F5F5F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5F5F5F"/>
                </a:solidFill>
              </a:rPr>
              <a:t>Retro-engineering of UML-RT runtime and Code Generation – November 2015 Update</a:t>
            </a:r>
            <a:endParaRPr lang="fr-FR" dirty="0">
              <a:solidFill>
                <a:srgbClr val="5F5F5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360363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2000" kern="1200">
          <a:solidFill>
            <a:srgbClr val="5F5F5F"/>
          </a:solidFill>
          <a:latin typeface="+mn-lt"/>
          <a:ea typeface="+mn-ea"/>
          <a:cs typeface="+mn-cs"/>
        </a:defRPr>
      </a:lvl2pPr>
      <a:lvl3pPr marL="647700" indent="-285750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50" indent="-238125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5"/>
        </a:buBlip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75" indent="-114300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6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9113" y="620688"/>
            <a:ext cx="5905500" cy="1800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Retro-engineering of UML-RT runtime and Code Generation – November 2015 Update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15" name="Espace réservé pour une image  2"/>
          <p:cNvSpPr>
            <a:spLocks noGrp="1"/>
          </p:cNvSpPr>
          <p:nvPr>
            <p:ph type="pic" sz="quarter" idx="14"/>
          </p:nvPr>
        </p:nvSpPr>
        <p:spPr bwMode="auto">
          <a:xfrm>
            <a:off x="2843213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6" name="Espace réservé pour une image  3"/>
          <p:cNvSpPr>
            <a:spLocks noGrp="1"/>
          </p:cNvSpPr>
          <p:nvPr>
            <p:ph type="pic" sz="quarter" idx="23"/>
          </p:nvPr>
        </p:nvSpPr>
        <p:spPr bwMode="auto">
          <a:xfrm>
            <a:off x="4941888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7" name="Espace réservé pour une image  4"/>
          <p:cNvSpPr>
            <a:spLocks noGrp="1"/>
          </p:cNvSpPr>
          <p:nvPr>
            <p:ph type="pic" sz="quarter" idx="24"/>
          </p:nvPr>
        </p:nvSpPr>
        <p:spPr bwMode="auto">
          <a:xfrm>
            <a:off x="7046913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" name="Espace réservé du pied de page 5"/>
          <p:cNvSpPr>
            <a:spLocks noGrp="1"/>
          </p:cNvSpPr>
          <p:nvPr>
            <p:ph type="ftr" sz="quarter" idx="25"/>
          </p:nvPr>
        </p:nvSpPr>
        <p:spPr>
          <a:xfrm>
            <a:off x="3059113" y="2708920"/>
            <a:ext cx="5905500" cy="115212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fr-FR" dirty="0" smtClean="0"/>
              <a:t>Shuai Li, Ansgar </a:t>
            </a:r>
            <a:r>
              <a:rPr lang="fr-FR" dirty="0" err="1" smtClean="0"/>
              <a:t>Radermacher</a:t>
            </a:r>
            <a:r>
              <a:rPr lang="fr-FR" dirty="0" smtClean="0"/>
              <a:t>, Chokri </a:t>
            </a:r>
            <a:r>
              <a:rPr lang="fr-FR" dirty="0" err="1" smtClean="0"/>
              <a:t>Mraidha</a:t>
            </a:r>
            <a:r>
              <a:rPr lang="fr-FR" dirty="0" smtClean="0"/>
              <a:t>, Sébastien Gérard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fr-FR" dirty="0" smtClean="0"/>
              <a:t>{</a:t>
            </a:r>
            <a:r>
              <a:rPr lang="fr-FR" dirty="0" err="1" smtClean="0"/>
              <a:t>first_name</a:t>
            </a:r>
            <a:r>
              <a:rPr lang="fr-FR" dirty="0" smtClean="0"/>
              <a:t>}.{</a:t>
            </a:r>
            <a:r>
              <a:rPr lang="fr-FR" dirty="0" err="1" smtClean="0"/>
              <a:t>last_name</a:t>
            </a:r>
            <a:r>
              <a:rPr lang="fr-FR" dirty="0"/>
              <a:t>}</a:t>
            </a:r>
            <a:r>
              <a:rPr lang="fr-FR" dirty="0" smtClean="0"/>
              <a:t>@cea.fr</a:t>
            </a:r>
            <a:endParaRPr lang="fr-FR" dirty="0"/>
          </a:p>
        </p:txBody>
      </p:sp>
      <p:pic>
        <p:nvPicPr>
          <p:cNvPr id="13320" name="Espace réservé pour une image  6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3" y="4057650"/>
            <a:ext cx="2098675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Espace réservé pour une image  7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4057650"/>
            <a:ext cx="2098675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Espace réservé pour une image  8"/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4057650"/>
            <a:ext cx="2100263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6309320"/>
            <a:ext cx="1152003" cy="3168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542681"/>
          </a:xfrm>
        </p:spPr>
        <p:txBody>
          <a:bodyPr/>
          <a:lstStyle/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Previous work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Retro-engineer the UML-RT runtime to have a UML model of it (including diagrams)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Refactor the runtime by re-packaging its elements and re-defining its architecture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Re-generate the code of the runtime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Previous results</a:t>
            </a:r>
            <a:endParaRPr lang="en-US" dirty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A graphical UML model of the whole runtime, with a defined architecture, for which code can be generated in 5 seconds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Several justified differences between original runtime and generated runtime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Some lacking C/C++ features that had to be added to our code generation framework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Today’s agenda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Update on status of work and roadmap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Discussion (questions, suggestions, expectations…)</a:t>
            </a:r>
            <a:endParaRPr lang="en-US" dirty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Context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977546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de-DE" dirty="0" smtClean="0"/>
              <a:t>Roadmap</a:t>
            </a:r>
            <a:endParaRPr lang="fr-FR" dirty="0"/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2628870164"/>
              </p:ext>
            </p:extLst>
          </p:nvPr>
        </p:nvGraphicFramePr>
        <p:xfrm>
          <a:off x="287524" y="1397000"/>
          <a:ext cx="8568952" cy="4840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Accolade fermante 14"/>
          <p:cNvSpPr/>
          <p:nvPr/>
        </p:nvSpPr>
        <p:spPr>
          <a:xfrm rot="5400000">
            <a:off x="4469295" y="3531705"/>
            <a:ext cx="144016" cy="2818925"/>
          </a:xfrm>
          <a:prstGeom prst="rightBrac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3101646" y="5021215"/>
            <a:ext cx="28793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 smtClean="0">
                <a:solidFill>
                  <a:srgbClr val="0070C0"/>
                </a:solidFill>
              </a:rPr>
              <a:t>Several</a:t>
            </a:r>
            <a:r>
              <a:rPr lang="fr-FR" sz="1400" b="1" dirty="0" smtClean="0">
                <a:solidFill>
                  <a:srgbClr val="0070C0"/>
                </a:solidFill>
              </a:rPr>
              <a:t> </a:t>
            </a:r>
            <a:r>
              <a:rPr lang="fr-FR" sz="1400" b="1" dirty="0" err="1" smtClean="0">
                <a:solidFill>
                  <a:srgbClr val="0070C0"/>
                </a:solidFill>
              </a:rPr>
              <a:t>iterations</a:t>
            </a:r>
            <a:r>
              <a:rPr lang="fr-FR" sz="1400" b="1" dirty="0" smtClean="0">
                <a:solidFill>
                  <a:srgbClr val="0070C0"/>
                </a:solidFill>
              </a:rPr>
              <a:t>; </a:t>
            </a:r>
            <a:r>
              <a:rPr lang="fr-FR" sz="1400" b="1" dirty="0" err="1" smtClean="0">
                <a:solidFill>
                  <a:srgbClr val="0070C0"/>
                </a:solidFill>
              </a:rPr>
              <a:t>currently</a:t>
            </a:r>
            <a:r>
              <a:rPr lang="fr-FR" sz="1400" b="1" dirty="0" smtClean="0">
                <a:solidFill>
                  <a:srgbClr val="0070C0"/>
                </a:solidFill>
              </a:rPr>
              <a:t>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 smtClean="0">
                <a:solidFill>
                  <a:srgbClr val="0070C0"/>
                </a:solidFill>
              </a:rPr>
              <a:t>Circular</a:t>
            </a:r>
            <a:r>
              <a:rPr lang="fr-FR" sz="1400" b="1" dirty="0" smtClean="0">
                <a:solidFill>
                  <a:srgbClr val="0070C0"/>
                </a:solidFill>
              </a:rPr>
              <a:t> </a:t>
            </a:r>
            <a:r>
              <a:rPr lang="fr-FR" sz="1400" b="1" dirty="0" err="1" smtClean="0">
                <a:solidFill>
                  <a:srgbClr val="0070C0"/>
                </a:solidFill>
              </a:rPr>
              <a:t>dependencies</a:t>
            </a:r>
            <a:endParaRPr lang="fr-FR" sz="1400" b="1" dirty="0" smtClean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 smtClean="0">
                <a:solidFill>
                  <a:srgbClr val="0070C0"/>
                </a:solidFill>
              </a:rPr>
              <a:t>Comments</a:t>
            </a:r>
            <a:endParaRPr lang="fr-FR" sz="1400" b="1" dirty="0">
              <a:solidFill>
                <a:srgbClr val="0070C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977785" y="5921469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b="1" dirty="0" smtClean="0"/>
              <a:t>End of</a:t>
            </a:r>
          </a:p>
          <a:p>
            <a:pPr algn="r"/>
            <a:r>
              <a:rPr lang="fr-FR" sz="1600" b="1" dirty="0" smtClean="0"/>
              <a:t>2015-11</a:t>
            </a:r>
            <a:endParaRPr lang="fr-FR" sz="1600" b="1" dirty="0"/>
          </a:p>
        </p:txBody>
      </p:sp>
      <p:cxnSp>
        <p:nvCxnSpPr>
          <p:cNvPr id="19" name="Connecteur droit 18"/>
          <p:cNvCxnSpPr/>
          <p:nvPr/>
        </p:nvCxnSpPr>
        <p:spPr>
          <a:xfrm>
            <a:off x="6913889" y="3969031"/>
            <a:ext cx="0" cy="22852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8827347" y="3969031"/>
            <a:ext cx="0" cy="22852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7891243" y="6167690"/>
            <a:ext cx="9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b="1" dirty="0" smtClean="0"/>
              <a:t>2015-12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2615774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Progress in Modeling and Generation Possibilities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8"/>
            <p:extLst>
              <p:ext uri="{D42A27DB-BD31-4B8C-83A1-F6EECF244321}">
                <p14:modId xmlns:p14="http://schemas.microsoft.com/office/powerpoint/2010/main" val="1207592172"/>
              </p:ext>
            </p:extLst>
          </p:nvPr>
        </p:nvGraphicFramePr>
        <p:xfrm>
          <a:off x="107504" y="1430496"/>
          <a:ext cx="8889182" cy="45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488"/>
                <a:gridCol w="449669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 smtClean="0">
                          <a:solidFill>
                            <a:schemeClr val="tx1"/>
                          </a:solidFill>
                        </a:rPr>
                        <a:t>Possible to model</a:t>
                      </a:r>
                      <a:r>
                        <a:rPr lang="en-US" sz="1400" baseline="0" noProof="0" dirty="0" smtClean="0">
                          <a:solidFill>
                            <a:schemeClr val="tx1"/>
                          </a:solidFill>
                        </a:rPr>
                        <a:t> and generate</a:t>
                      </a:r>
                      <a:endParaRPr lang="en-US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>
                          <a:solidFill>
                            <a:schemeClr val="tx1"/>
                          </a:solidFill>
                        </a:rPr>
                        <a:t>Shortages</a:t>
                      </a:r>
                      <a:endParaRPr lang="en-US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Class and structure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Method implementation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Constructors and constant initialization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Destructor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Type definition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C primitive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External library</a:t>
                      </a:r>
                      <a:r>
                        <a:rPr lang="en-US" sz="1400" baseline="0" dirty="0" smtClean="0"/>
                        <a:t> and type</a:t>
                      </a:r>
                      <a:endParaRPr lang="en-US" sz="14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Constant (any</a:t>
                      </a:r>
                      <a:r>
                        <a:rPr lang="en-US" sz="1400" baseline="0" dirty="0" smtClean="0"/>
                        <a:t> combination</a:t>
                      </a:r>
                      <a:r>
                        <a:rPr lang="en-US" sz="1400" dirty="0" smtClean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Pointer (any</a:t>
                      </a:r>
                      <a:r>
                        <a:rPr lang="en-US" sz="1400" baseline="0" dirty="0" smtClean="0"/>
                        <a:t> combination</a:t>
                      </a:r>
                      <a:r>
                        <a:rPr lang="en-US" sz="1400" dirty="0" smtClean="0"/>
                        <a:t>)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Reference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Virtual and abstract method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Static method and attribute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Manual include and define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smtClean="0"/>
                        <a:t>Function pointer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err="1" smtClean="0"/>
                        <a:t>Variadic</a:t>
                      </a:r>
                      <a:r>
                        <a:rPr lang="en-US" sz="1400" b="1" dirty="0" smtClean="0"/>
                        <a:t> function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smtClean="0"/>
                        <a:t>Mutable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smtClean="0"/>
                        <a:t>Inner class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smtClean="0"/>
                        <a:t>(Automatic) forward</a:t>
                      </a:r>
                      <a:r>
                        <a:rPr lang="en-US" sz="1400" b="1" baseline="0" dirty="0" smtClean="0"/>
                        <a:t> declaration and include policy</a:t>
                      </a:r>
                      <a:endParaRPr lang="en-US" sz="14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 smtClean="0"/>
                        <a:t>OS abstraction layer (to</a:t>
                      </a:r>
                      <a:r>
                        <a:rPr lang="en-US" sz="1400" baseline="0" dirty="0" smtClean="0"/>
                        <a:t> model instead of using external type and linking at compilation)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baseline="0" dirty="0" smtClean="0"/>
                        <a:t>Function template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baseline="0" dirty="0" err="1" smtClean="0"/>
                        <a:t>Bitfield</a:t>
                      </a:r>
                      <a:endParaRPr lang="en-US" sz="1400" baseline="0" dirty="0" smtClean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 baseline="0" dirty="0" smtClean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 smtClean="0">
                          <a:sym typeface="Wingdings" panose="05000000000000000000" pitchFamily="2" charset="2"/>
                        </a:rPr>
                        <a:t> Some of these shortages aren’t blocking.</a:t>
                      </a:r>
                      <a:endParaRPr lang="en-US" sz="1400" baseline="0" dirty="0" smtClean="0"/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400" dirty="0" smtClean="0"/>
                    </a:p>
                    <a:p>
                      <a:endParaRPr lang="fr-F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43081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Differences between Runtimes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1325564"/>
              </p:ext>
            </p:extLst>
          </p:nvPr>
        </p:nvGraphicFramePr>
        <p:xfrm>
          <a:off x="53753" y="805954"/>
          <a:ext cx="9036495" cy="559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016"/>
                <a:gridCol w="2808312"/>
                <a:gridCol w="37981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noProof="0" dirty="0" smtClean="0">
                          <a:solidFill>
                            <a:schemeClr val="tx1"/>
                          </a:solidFill>
                        </a:rPr>
                        <a:t>Original runtime</a:t>
                      </a:r>
                      <a:endParaRPr lang="en-US" sz="10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>
                          <a:solidFill>
                            <a:schemeClr val="tx1"/>
                          </a:solidFill>
                        </a:rPr>
                        <a:t>Modeled/generated runtime</a:t>
                      </a:r>
                      <a:endParaRPr lang="en-US" sz="10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10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Structure</a:t>
                      </a:r>
                      <a:r>
                        <a:rPr lang="en-US" sz="1000" baseline="0" noProof="0" dirty="0" smtClean="0"/>
                        <a:t> with implemented method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Class</a:t>
                      </a:r>
                      <a:r>
                        <a:rPr lang="en-US" sz="1000" baseline="0" noProof="0" dirty="0" smtClean="0"/>
                        <a:t> with public features</a:t>
                      </a:r>
                      <a:endParaRPr lang="en-US" sz="1000" noProof="0" dirty="0" smtClean="0"/>
                    </a:p>
                    <a:p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A struct</a:t>
                      </a:r>
                      <a:r>
                        <a:rPr lang="en-US" sz="1000" baseline="0" noProof="0" dirty="0" smtClean="0"/>
                        <a:t>ure in C++ is equivalent to a class with public features. Structures are modeled with </a:t>
                      </a:r>
                      <a:r>
                        <a:rPr lang="en-US" sz="1000" baseline="0" noProof="0" dirty="0" err="1" smtClean="0"/>
                        <a:t>DataType</a:t>
                      </a:r>
                      <a:r>
                        <a:rPr lang="en-US" sz="1000" baseline="0" noProof="0" dirty="0" smtClean="0"/>
                        <a:t> in UML but </a:t>
                      </a:r>
                      <a:r>
                        <a:rPr lang="en-US" sz="1000" baseline="0" noProof="0" dirty="0" err="1" smtClean="0"/>
                        <a:t>DataType</a:t>
                      </a:r>
                      <a:r>
                        <a:rPr lang="en-US" sz="1000" baseline="0" noProof="0" dirty="0" smtClean="0"/>
                        <a:t> cannot have a method (implementation of operation).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All-in-one</a:t>
                      </a:r>
                      <a:r>
                        <a:rPr lang="en-US" sz="1000" baseline="0" noProof="0" dirty="0" smtClean="0"/>
                        <a:t> package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Re-packaging of elements according to their semantic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Namespaces,</a:t>
                      </a:r>
                      <a:r>
                        <a:rPr lang="en-US" sz="1000" baseline="0" noProof="0" dirty="0" smtClean="0"/>
                        <a:t> includes, and forward declarations</a:t>
                      </a:r>
                      <a:r>
                        <a:rPr lang="en-US" sz="1000" noProof="0" dirty="0" smtClean="0"/>
                        <a:t> are handled</a:t>
                      </a:r>
                      <a:r>
                        <a:rPr lang="en-US" sz="1000" baseline="0" noProof="0" dirty="0" smtClean="0"/>
                        <a:t> automatically.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No common</a:t>
                      </a:r>
                      <a:r>
                        <a:rPr lang="en-US" sz="1000" baseline="0" noProof="0" dirty="0" smtClean="0"/>
                        <a:t> format for comments before attributes or methods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Comments must follow a certain format.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/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Extern</a:t>
                      </a:r>
                      <a:r>
                        <a:rPr lang="en-US" sz="1000" baseline="0" noProof="0" dirty="0" smtClean="0"/>
                        <a:t> and file scope variables/functions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Private/public</a:t>
                      </a:r>
                      <a:r>
                        <a:rPr lang="en-US" sz="1000" baseline="0" noProof="0" dirty="0" smtClean="0"/>
                        <a:t> static </a:t>
                      </a:r>
                      <a:r>
                        <a:rPr lang="en-US" sz="1000" baseline="0" noProof="0" dirty="0" err="1" smtClean="0"/>
                        <a:t>const</a:t>
                      </a:r>
                      <a:r>
                        <a:rPr lang="en-US" sz="1000" baseline="0" noProof="0" dirty="0" smtClean="0"/>
                        <a:t> attribute of class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Extern variables can be modeled as public static attribute of a class. File</a:t>
                      </a:r>
                      <a:r>
                        <a:rPr lang="en-US" sz="1000" baseline="0" noProof="0" dirty="0" smtClean="0"/>
                        <a:t> scope is modeled as static variable, with a visibility that depends on who uses the static variable in the file (case of several classes or structures defined in same file).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Function pointer variables without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A function pointer typing a variable must be defined (</a:t>
                      </a:r>
                      <a:r>
                        <a:rPr lang="en-US" sz="1000" noProof="0" dirty="0" err="1" smtClean="0"/>
                        <a:t>typedef</a:t>
                      </a:r>
                      <a:r>
                        <a:rPr lang="en-US" sz="1000" noProof="0" dirty="0" smtClean="0"/>
                        <a:t>)</a:t>
                      </a:r>
                      <a:r>
                        <a:rPr lang="en-US" sz="1000" baseline="0" noProof="0" dirty="0" smtClean="0"/>
                        <a:t> beforehand.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Just</a:t>
                      </a:r>
                      <a:r>
                        <a:rPr lang="en-US" sz="1000" baseline="0" noProof="0" dirty="0" smtClean="0"/>
                        <a:t> an extra step when specifying a variable typed by a function pointer. A primitive type is created with the name of the variable </a:t>
                      </a:r>
                      <a:r>
                        <a:rPr lang="en-US" sz="1000" baseline="0" noProof="0" dirty="0" err="1" smtClean="0"/>
                        <a:t>postfixed</a:t>
                      </a:r>
                      <a:r>
                        <a:rPr lang="en-US" sz="1000" baseline="0" noProof="0" dirty="0" smtClean="0"/>
                        <a:t> with “_</a:t>
                      </a:r>
                      <a:r>
                        <a:rPr lang="en-US" sz="1000" baseline="0" noProof="0" dirty="0" err="1" smtClean="0"/>
                        <a:t>func</a:t>
                      </a:r>
                      <a:r>
                        <a:rPr lang="en-US" sz="1000" baseline="0" noProof="0" dirty="0" smtClean="0"/>
                        <a:t>”.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aseline="0" noProof="0" dirty="0" smtClean="0"/>
                        <a:t>Includes for method implementation in header or body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A UML</a:t>
                      </a:r>
                      <a:r>
                        <a:rPr lang="en-US" sz="1000" baseline="0" noProof="0" dirty="0" smtClean="0"/>
                        <a:t> dependency is used to model an implementation dependency. 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/>
                        <a:t>Since all method implementations</a:t>
                      </a:r>
                      <a:r>
                        <a:rPr lang="en-US" sz="1000" baseline="0" noProof="0" dirty="0" smtClean="0"/>
                        <a:t> are in bodies (</a:t>
                      </a:r>
                      <a:r>
                        <a:rPr lang="en-US" sz="1000" baseline="0" noProof="0" dirty="0" err="1" smtClean="0"/>
                        <a:t>cpp</a:t>
                      </a:r>
                      <a:r>
                        <a:rPr lang="en-US" sz="1000" baseline="0" noProof="0" dirty="0" smtClean="0"/>
                        <a:t> file), implementation includes are generated in bodies only. We try not to have to manually add includes with &lt;&lt;include&gt;&gt;.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File with n</a:t>
                      </a:r>
                      <a:r>
                        <a:rPr lang="en-US" sz="1000" baseline="0" noProof="0" dirty="0" smtClean="0"/>
                        <a:t>o class, only methods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Class with public</a:t>
                      </a:r>
                      <a:r>
                        <a:rPr lang="en-US" sz="1000" baseline="0" noProof="0" dirty="0" smtClean="0"/>
                        <a:t> static operations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Methods with OS-dependent 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Stereotyped &lt;&lt;</a:t>
                      </a:r>
                      <a:r>
                        <a:rPr lang="en-US" sz="1000" noProof="0" dirty="0" err="1" smtClean="0"/>
                        <a:t>NoCodeGen</a:t>
                      </a:r>
                      <a:r>
                        <a:rPr lang="en-US" sz="1000" noProof="0" dirty="0" smtClean="0"/>
                        <a:t>&gt;&gt; and kept original</a:t>
                      </a:r>
                      <a:r>
                        <a:rPr lang="en-US" sz="1000" baseline="0" noProof="0" dirty="0" smtClean="0"/>
                        <a:t> OS-dependent implementations, linked at compilation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/>
                        <a:t>A </a:t>
                      </a:r>
                      <a:r>
                        <a:rPr lang="en-US" sz="1000" noProof="0" dirty="0" err="1" smtClean="0"/>
                        <a:t>bette</a:t>
                      </a:r>
                      <a:r>
                        <a:rPr lang="en-US" sz="1000" noProof="0" dirty="0" smtClean="0"/>
                        <a:t> solution will be proposed later</a:t>
                      </a:r>
                      <a:r>
                        <a:rPr lang="en-US" sz="1000" baseline="0" noProof="0" dirty="0" smtClean="0"/>
                        <a:t> with an OS abstraction layer in the model.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Forward declaration in manually included files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Forward declarations</a:t>
                      </a:r>
                      <a:r>
                        <a:rPr lang="en-US" sz="1000" baseline="0" noProof="0" dirty="0" smtClean="0"/>
                        <a:t> handled automatically according to what is in header and body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smtClean="0"/>
                        <a:t>No namespace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Namespace in model</a:t>
                      </a:r>
                      <a:r>
                        <a:rPr lang="en-US" sz="1000" baseline="0" noProof="0" dirty="0" smtClean="0"/>
                        <a:t> (see comment)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/>
                        <a:t>…but model can be generated without namespaces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noProof="0" dirty="0" err="1" smtClean="0"/>
                        <a:t>Typedef</a:t>
                      </a:r>
                      <a:r>
                        <a:rPr lang="en-US" sz="1000" baseline="0" noProof="0" dirty="0" smtClean="0"/>
                        <a:t> </a:t>
                      </a:r>
                      <a:r>
                        <a:rPr lang="en-US" sz="1000" baseline="0" noProof="0" dirty="0" err="1" smtClean="0"/>
                        <a:t>enum</a:t>
                      </a:r>
                      <a:r>
                        <a:rPr lang="en-US" sz="1000" baseline="0" noProof="0" dirty="0" smtClean="0"/>
                        <a:t> {…} Error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 smtClean="0"/>
                        <a:t>An</a:t>
                      </a:r>
                      <a:r>
                        <a:rPr lang="en-US" sz="1000" baseline="0" noProof="0" dirty="0" smtClean="0"/>
                        <a:t> </a:t>
                      </a:r>
                      <a:r>
                        <a:rPr lang="en-US" sz="1000" baseline="0" noProof="0" dirty="0" err="1" smtClean="0"/>
                        <a:t>enum</a:t>
                      </a:r>
                      <a:r>
                        <a:rPr lang="en-US" sz="1000" baseline="0" noProof="0" dirty="0" smtClean="0"/>
                        <a:t> is first specified, then its name is used to define a type.</a:t>
                      </a:r>
                      <a:endParaRPr lang="en-US" sz="1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/>
                        <a:t>An extra step in modeling, that avoids us to have too complex</a:t>
                      </a:r>
                      <a:r>
                        <a:rPr lang="en-US" sz="1000" baseline="0" noProof="0" dirty="0" smtClean="0"/>
                        <a:t> manual type definitions in the UML model.</a:t>
                      </a:r>
                      <a:endParaRPr lang="en-US" sz="10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593955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de-DE" dirty="0" err="1" smtClean="0"/>
              <a:t>Discussion</a:t>
            </a:r>
            <a:endParaRPr lang="fr-FR" dirty="0"/>
          </a:p>
        </p:txBody>
      </p:sp>
      <p:pic>
        <p:nvPicPr>
          <p:cNvPr id="6" name="Picture 4" descr="help, mark, question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876" y="2312876"/>
            <a:ext cx="2232248" cy="2232248"/>
          </a:xfrm>
          <a:prstGeom prst="rect">
            <a:avLst/>
          </a:prstGeom>
          <a:noFill/>
          <a:extLst/>
        </p:spPr>
      </p:pic>
      <p:sp>
        <p:nvSpPr>
          <p:cNvPr id="4" name="Bulle ronde 3"/>
          <p:cNvSpPr/>
          <p:nvPr/>
        </p:nvSpPr>
        <p:spPr>
          <a:xfrm>
            <a:off x="6012160" y="1967660"/>
            <a:ext cx="3096344" cy="1304528"/>
          </a:xfrm>
          <a:prstGeom prst="wedgeEllipseCallout">
            <a:avLst>
              <a:gd name="adj1" fmla="val -47654"/>
              <a:gd name="adj2" fmla="val 55199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Are </a:t>
            </a:r>
            <a:r>
              <a:rPr lang="fr-FR" dirty="0" err="1" smtClean="0">
                <a:solidFill>
                  <a:schemeClr val="tx1"/>
                </a:solidFill>
              </a:rPr>
              <a:t>there</a:t>
            </a:r>
            <a:r>
              <a:rPr lang="fr-FR" dirty="0" smtClean="0">
                <a:solidFill>
                  <a:schemeClr val="tx1"/>
                </a:solidFill>
              </a:rPr>
              <a:t> C/C++ </a:t>
            </a:r>
            <a:r>
              <a:rPr lang="fr-FR" dirty="0" err="1" smtClean="0">
                <a:solidFill>
                  <a:schemeClr val="tx1"/>
                </a:solidFill>
              </a:rPr>
              <a:t>features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that</a:t>
            </a:r>
            <a:r>
              <a:rPr lang="fr-FR" dirty="0" smtClean="0">
                <a:solidFill>
                  <a:schemeClr val="tx1"/>
                </a:solidFill>
              </a:rPr>
              <a:t> are </a:t>
            </a:r>
            <a:r>
              <a:rPr lang="fr-FR" dirty="0" err="1" smtClean="0">
                <a:solidFill>
                  <a:schemeClr val="tx1"/>
                </a:solidFill>
              </a:rPr>
              <a:t>absolutely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necessary</a:t>
            </a:r>
            <a:r>
              <a:rPr lang="fr-FR" dirty="0" smtClean="0">
                <a:solidFill>
                  <a:schemeClr val="tx1"/>
                </a:solidFill>
              </a:rPr>
              <a:t>?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Bulle ronde 6"/>
          <p:cNvSpPr/>
          <p:nvPr/>
        </p:nvSpPr>
        <p:spPr>
          <a:xfrm>
            <a:off x="395536" y="1355592"/>
            <a:ext cx="2736304" cy="1224136"/>
          </a:xfrm>
          <a:prstGeom prst="wedgeEllipseCallout">
            <a:avLst>
              <a:gd name="adj1" fmla="val 53603"/>
              <a:gd name="adj2" fmla="val 6250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How </a:t>
            </a:r>
            <a:r>
              <a:rPr lang="fr-FR" dirty="0" err="1" smtClean="0">
                <a:solidFill>
                  <a:schemeClr val="tx1"/>
                </a:solidFill>
              </a:rPr>
              <a:t>will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you</a:t>
            </a:r>
            <a:r>
              <a:rPr lang="fr-FR" dirty="0" smtClean="0">
                <a:solidFill>
                  <a:schemeClr val="tx1"/>
                </a:solidFill>
              </a:rPr>
              <a:t> use the model and </a:t>
            </a:r>
            <a:r>
              <a:rPr lang="fr-FR" dirty="0" err="1" smtClean="0">
                <a:solidFill>
                  <a:schemeClr val="tx1"/>
                </a:solidFill>
              </a:rPr>
              <a:t>generated</a:t>
            </a:r>
            <a:r>
              <a:rPr lang="fr-FR" dirty="0" smtClean="0">
                <a:solidFill>
                  <a:schemeClr val="tx1"/>
                </a:solidFill>
              </a:rPr>
              <a:t> code?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Bulle ronde 7"/>
          <p:cNvSpPr/>
          <p:nvPr/>
        </p:nvSpPr>
        <p:spPr>
          <a:xfrm>
            <a:off x="5688124" y="4491118"/>
            <a:ext cx="3168352" cy="1224136"/>
          </a:xfrm>
          <a:prstGeom prst="wedgeEllipseCallout">
            <a:avLst>
              <a:gd name="adj1" fmla="val -49652"/>
              <a:gd name="adj2" fmla="val -63909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What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evolutions</a:t>
            </a:r>
            <a:r>
              <a:rPr lang="fr-FR" dirty="0" smtClean="0">
                <a:solidFill>
                  <a:schemeClr val="tx1"/>
                </a:solidFill>
              </a:rPr>
              <a:t> do </a:t>
            </a:r>
            <a:r>
              <a:rPr lang="fr-FR" dirty="0" err="1" smtClean="0">
                <a:solidFill>
                  <a:schemeClr val="tx1"/>
                </a:solidFill>
              </a:rPr>
              <a:t>we</a:t>
            </a:r>
            <a:r>
              <a:rPr lang="fr-FR" dirty="0" smtClean="0">
                <a:solidFill>
                  <a:schemeClr val="tx1"/>
                </a:solidFill>
              </a:rPr>
              <a:t> plan for the model? </a:t>
            </a:r>
            <a:r>
              <a:rPr lang="fr-FR" dirty="0" err="1" smtClean="0">
                <a:solidFill>
                  <a:schemeClr val="tx1"/>
                </a:solidFill>
              </a:rPr>
              <a:t>E.g</a:t>
            </a:r>
            <a:r>
              <a:rPr lang="fr-FR" dirty="0" smtClean="0">
                <a:solidFill>
                  <a:schemeClr val="tx1"/>
                </a:solidFill>
              </a:rPr>
              <a:t>. ALF?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Bulle ronde 8"/>
          <p:cNvSpPr/>
          <p:nvPr/>
        </p:nvSpPr>
        <p:spPr>
          <a:xfrm>
            <a:off x="683568" y="4581128"/>
            <a:ext cx="3435120" cy="1134126"/>
          </a:xfrm>
          <a:prstGeom prst="wedgeEllipseCallout">
            <a:avLst>
              <a:gd name="adj1" fmla="val 35844"/>
              <a:gd name="adj2" fmla="val -6784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Which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method</a:t>
            </a:r>
            <a:r>
              <a:rPr lang="fr-FR" dirty="0" smtClean="0">
                <a:solidFill>
                  <a:schemeClr val="tx1"/>
                </a:solidFill>
              </a:rPr>
              <a:t> do </a:t>
            </a:r>
            <a:r>
              <a:rPr lang="fr-FR" dirty="0" err="1" smtClean="0">
                <a:solidFill>
                  <a:schemeClr val="tx1"/>
                </a:solidFill>
              </a:rPr>
              <a:t>you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prefer</a:t>
            </a:r>
            <a:r>
              <a:rPr lang="fr-FR" dirty="0" smtClean="0">
                <a:solidFill>
                  <a:schemeClr val="tx1"/>
                </a:solidFill>
              </a:rPr>
              <a:t> for sharing? </a:t>
            </a:r>
            <a:r>
              <a:rPr lang="fr-FR" dirty="0" err="1" smtClean="0">
                <a:solidFill>
                  <a:schemeClr val="tx1"/>
                </a:solidFill>
              </a:rPr>
              <a:t>E.g</a:t>
            </a:r>
            <a:r>
              <a:rPr lang="fr-FR" dirty="0" smtClean="0">
                <a:solidFill>
                  <a:schemeClr val="tx1"/>
                </a:solidFill>
              </a:rPr>
              <a:t>. Papyrus-RT Git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Bulle ronde 9"/>
          <p:cNvSpPr/>
          <p:nvPr/>
        </p:nvSpPr>
        <p:spPr>
          <a:xfrm>
            <a:off x="179512" y="2924944"/>
            <a:ext cx="3027285" cy="1134126"/>
          </a:xfrm>
          <a:prstGeom prst="wedgeEllipseCallout">
            <a:avLst>
              <a:gd name="adj1" fmla="val 50628"/>
              <a:gd name="adj2" fmla="val 4734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What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would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you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like</a:t>
            </a:r>
            <a:r>
              <a:rPr lang="fr-FR" dirty="0" smtClean="0">
                <a:solidFill>
                  <a:schemeClr val="tx1"/>
                </a:solidFill>
              </a:rPr>
              <a:t> to </a:t>
            </a:r>
            <a:r>
              <a:rPr lang="fr-FR" dirty="0" err="1" smtClean="0">
                <a:solidFill>
                  <a:schemeClr val="tx1"/>
                </a:solidFill>
              </a:rPr>
              <a:t>modify</a:t>
            </a:r>
            <a:r>
              <a:rPr lang="fr-FR" dirty="0" smtClean="0">
                <a:solidFill>
                  <a:schemeClr val="tx1"/>
                </a:solidFill>
              </a:rPr>
              <a:t>? </a:t>
            </a:r>
            <a:r>
              <a:rPr lang="fr-FR" dirty="0" err="1" smtClean="0">
                <a:solidFill>
                  <a:schemeClr val="tx1"/>
                </a:solidFill>
              </a:rPr>
              <a:t>E.g</a:t>
            </a:r>
            <a:r>
              <a:rPr lang="fr-FR" dirty="0" smtClean="0">
                <a:solidFill>
                  <a:schemeClr val="tx1"/>
                </a:solidFill>
              </a:rPr>
              <a:t>. </a:t>
            </a:r>
            <a:r>
              <a:rPr lang="fr-FR" dirty="0" err="1" smtClean="0">
                <a:solidFill>
                  <a:schemeClr val="tx1"/>
                </a:solidFill>
              </a:rPr>
              <a:t>comments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70135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12381</TotalTime>
  <Words>695</Words>
  <Application>Microsoft Office PowerPoint</Application>
  <PresentationFormat>Affichage à l'écran (4:3)</PresentationFormat>
  <Paragraphs>103</Paragraphs>
  <Slides>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Wingdings</vt:lpstr>
      <vt:lpstr>CEA_Tech_List</vt:lpstr>
      <vt:lpstr>Retro-engineering of UML-RT runtime and Code Generation – November 2015 Update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Retro-engineering of UML-RT runtime and Code Generation – November 2015 Update</dc:title>
  <dc:creator>shuai.li@cea.fr</dc:creator>
  <cp:lastModifiedBy>LI Shuai</cp:lastModifiedBy>
  <cp:revision>4280</cp:revision>
  <dcterms:created xsi:type="dcterms:W3CDTF">2013-02-01T10:51:35Z</dcterms:created>
  <dcterms:modified xsi:type="dcterms:W3CDTF">2015-11-16T17:09:05Z</dcterms:modified>
</cp:coreProperties>
</file>