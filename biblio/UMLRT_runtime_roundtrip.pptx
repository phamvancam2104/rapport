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handoutMasterIdLst>
    <p:handoutMasterId r:id="rId10"/>
  </p:handoutMasterIdLst>
  <p:sldIdLst>
    <p:sldId id="261" r:id="rId2"/>
    <p:sldId id="300" r:id="rId3"/>
    <p:sldId id="414" r:id="rId4"/>
    <p:sldId id="416" r:id="rId5"/>
    <p:sldId id="413" r:id="rId6"/>
    <p:sldId id="415" r:id="rId7"/>
    <p:sldId id="417" r:id="rId8"/>
  </p:sldIdLst>
  <p:sldSz cx="9144000" cy="6858000" type="screen4x3"/>
  <p:notesSz cx="6858000" cy="9144000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I Shuai" initials="SL" lastIdx="37" clrIdx="0"/>
  <p:cmAuthor id="1" name="RADERMACHER Ansgar 206501" initials="RA2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6F3FC"/>
    <a:srgbClr val="53D6F5"/>
    <a:srgbClr val="1F497D"/>
    <a:srgbClr val="FF6600"/>
    <a:srgbClr val="FF3300"/>
    <a:srgbClr val="CC00CC"/>
    <a:srgbClr val="FF9900"/>
    <a:srgbClr val="E60019"/>
    <a:srgbClr val="FFBE49"/>
    <a:srgbClr val="FFE7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69" autoAdjust="0"/>
    <p:restoredTop sz="85643" autoAdjust="0"/>
  </p:normalViewPr>
  <p:slideViewPr>
    <p:cSldViewPr>
      <p:cViewPr varScale="1">
        <p:scale>
          <a:sx n="111" d="100"/>
          <a:sy n="111" d="100"/>
        </p:scale>
        <p:origin x="2342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224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98" d="100"/>
          <a:sy n="98" d="100"/>
        </p:scale>
        <p:origin x="-3974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5AE9CA-C14B-4E19-97C9-513406ADC593}" type="datetimeFigureOut">
              <a:rPr lang="fr-FR" smtClean="0"/>
              <a:t>24/02/2016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E359AC-EB57-4019-BE17-C972272DD70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63216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C0300910-25D8-4791-9138-E02902FF6C5D}" type="datetimeFigureOut">
              <a:rPr lang="fr-FR"/>
              <a:pPr>
                <a:defRPr/>
              </a:pPr>
              <a:t>24/02/2016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noProof="0" smtClean="0"/>
              <a:t>Modifiez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E5097153-1DDC-4F13-94F9-FB75DB92492A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992829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5097153-1DDC-4F13-94F9-FB75DB92492A}" type="slidenum">
              <a:rPr lang="fr-FR" smtClean="0"/>
              <a:pPr>
                <a:defRPr/>
              </a:pPr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59146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re 1_CEA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2843213" cy="6884988"/>
          </a:xfrm>
          <a:prstGeom prst="rect">
            <a:avLst/>
          </a:prstGeom>
          <a:gradFill flip="none" rotWithShape="1">
            <a:gsLst>
              <a:gs pos="0">
                <a:srgbClr val="E60019"/>
              </a:gs>
              <a:gs pos="100000">
                <a:srgbClr val="87000A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pic>
        <p:nvPicPr>
          <p:cNvPr id="4" name="Picture 2" descr="C:\Users\mp222957\Desktop\LOGO perso\LOGOS 2\List\List_vectoriel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0" y="5113338"/>
            <a:ext cx="1128713" cy="37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2843213" y="6742113"/>
            <a:ext cx="6300787" cy="142875"/>
          </a:xfrm>
          <a:prstGeom prst="rect">
            <a:avLst/>
          </a:prstGeom>
          <a:gradFill>
            <a:gsLst>
              <a:gs pos="0">
                <a:srgbClr val="0A6E28">
                  <a:lumMod val="100000"/>
                </a:srgbClr>
              </a:gs>
              <a:gs pos="100000">
                <a:srgbClr val="91C30A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>
              <a:solidFill>
                <a:prstClr val="white"/>
              </a:solidFill>
            </a:endParaRPr>
          </a:p>
        </p:txBody>
      </p:sp>
      <p:pic>
        <p:nvPicPr>
          <p:cNvPr id="6" name="Image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363" y="1020763"/>
            <a:ext cx="2393950" cy="633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 10" descr="digiteo-couleur-sans-baseline_web.gif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3000" y="6342063"/>
            <a:ext cx="792163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Image 11" descr="Logo_IC_CEA_LIST_carre.jpg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715" b="28154"/>
          <a:stretch>
            <a:fillRect/>
          </a:stretch>
        </p:blipFill>
        <p:spPr bwMode="auto">
          <a:xfrm>
            <a:off x="2916238" y="6319838"/>
            <a:ext cx="741362" cy="312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3059833" y="1556792"/>
            <a:ext cx="5904655" cy="2653832"/>
          </a:xfrm>
          <a:prstGeom prst="rect">
            <a:avLst/>
          </a:prstGeom>
        </p:spPr>
        <p:txBody>
          <a:bodyPr anchor="ctr" anchorCtr="0"/>
          <a:lstStyle>
            <a:lvl1pPr algn="l">
              <a:lnSpc>
                <a:spcPts val="3800"/>
              </a:lnSpc>
              <a:defRPr sz="2800" b="1" cap="all" baseline="0">
                <a:solidFill>
                  <a:schemeClr val="accent5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10" name="Espace réservé du pied de page 12"/>
          <p:cNvSpPr>
            <a:spLocks noGrp="1"/>
          </p:cNvSpPr>
          <p:nvPr>
            <p:ph type="ftr" sz="quarter" idx="10"/>
          </p:nvPr>
        </p:nvSpPr>
        <p:spPr>
          <a:xfrm>
            <a:off x="3059113" y="4221163"/>
            <a:ext cx="5905500" cy="1584325"/>
          </a:xfrm>
          <a:prstGeom prst="rect">
            <a:avLst/>
          </a:prstGeom>
        </p:spPr>
        <p:txBody>
          <a:bodyPr anchor="ctr" anchorCtr="0"/>
          <a:lstStyle>
            <a:lvl1pPr algn="l">
              <a:defRPr sz="1400" cap="none" baseline="0">
                <a:solidFill>
                  <a:schemeClr val="accent5"/>
                </a:solidFill>
              </a:defRPr>
            </a:lvl1pPr>
          </a:lstStyle>
          <a:p>
            <a:pPr>
              <a:defRPr/>
            </a:pPr>
            <a:r>
              <a:rPr lang="fr-FR"/>
              <a:t>Nom événement | Nom Prénom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498470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re 2 visuel_CEA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2843213" cy="6884988"/>
          </a:xfrm>
          <a:prstGeom prst="rect">
            <a:avLst/>
          </a:prstGeom>
          <a:gradFill flip="none" rotWithShape="1">
            <a:gsLst>
              <a:gs pos="0">
                <a:srgbClr val="E60019"/>
              </a:gs>
              <a:gs pos="100000">
                <a:srgbClr val="87000A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5" name="Rectangle 4"/>
          <p:cNvSpPr/>
          <p:nvPr/>
        </p:nvSpPr>
        <p:spPr>
          <a:xfrm>
            <a:off x="2843213" y="6742113"/>
            <a:ext cx="6300787" cy="142875"/>
          </a:xfrm>
          <a:prstGeom prst="rect">
            <a:avLst/>
          </a:prstGeom>
          <a:gradFill>
            <a:gsLst>
              <a:gs pos="0">
                <a:srgbClr val="0A6E28">
                  <a:lumMod val="100000"/>
                </a:srgbClr>
              </a:gs>
              <a:gs pos="100000">
                <a:srgbClr val="91C30A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>
              <a:solidFill>
                <a:prstClr val="white"/>
              </a:solidFill>
            </a:endParaRPr>
          </a:p>
        </p:txBody>
      </p:sp>
      <p:pic>
        <p:nvPicPr>
          <p:cNvPr id="6" name="Image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363" y="1020763"/>
            <a:ext cx="2393950" cy="633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 descr="C:\Users\mp222957\Desktop\LOGO perso\LOGOS 2\List\List_vectoriel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0" y="5113338"/>
            <a:ext cx="1128713" cy="37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Image 10" descr="digiteo-couleur-sans-baseline_web.gif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9500" y="6316663"/>
            <a:ext cx="792163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Image 11" descr="Logo_IC_CEA_LIST_carre.jpg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715" b="28154"/>
          <a:stretch>
            <a:fillRect/>
          </a:stretch>
        </p:blipFill>
        <p:spPr bwMode="auto">
          <a:xfrm>
            <a:off x="2862263" y="6284913"/>
            <a:ext cx="741362" cy="312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Espace réservé pour une image  11"/>
          <p:cNvSpPr>
            <a:spLocks noGrp="1"/>
          </p:cNvSpPr>
          <p:nvPr>
            <p:ph type="pic" sz="quarter" idx="14"/>
          </p:nvPr>
        </p:nvSpPr>
        <p:spPr>
          <a:xfrm>
            <a:off x="2843809" y="4051822"/>
            <a:ext cx="6300190" cy="2124000"/>
          </a:xfrm>
          <a:prstGeom prst="rect">
            <a:avLst/>
          </a:prstGeom>
          <a:solidFill>
            <a:srgbClr val="666666"/>
          </a:solidFill>
        </p:spPr>
        <p:txBody>
          <a:bodyPr anchor="ctr"/>
          <a:lstStyle>
            <a:lvl1pPr marL="0" indent="0"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noProof="0" smtClean="0"/>
              <a:t>Cliquez sur l'icône pour ajouter une image</a:t>
            </a:r>
            <a:endParaRPr lang="fr-FR" noProof="0" dirty="0"/>
          </a:p>
        </p:txBody>
      </p:sp>
      <p:sp>
        <p:nvSpPr>
          <p:cNvPr id="13" name="Titre 1"/>
          <p:cNvSpPr>
            <a:spLocks noGrp="1"/>
          </p:cNvSpPr>
          <p:nvPr>
            <p:ph type="ctrTitle"/>
          </p:nvPr>
        </p:nvSpPr>
        <p:spPr>
          <a:xfrm>
            <a:off x="3059833" y="1556792"/>
            <a:ext cx="5904655" cy="2016224"/>
          </a:xfrm>
          <a:prstGeom prst="rect">
            <a:avLst/>
          </a:prstGeom>
        </p:spPr>
        <p:txBody>
          <a:bodyPr anchor="ctr" anchorCtr="0"/>
          <a:lstStyle>
            <a:lvl1pPr algn="l">
              <a:lnSpc>
                <a:spcPts val="3800"/>
              </a:lnSpc>
              <a:defRPr sz="2800" b="1" cap="all" baseline="0">
                <a:solidFill>
                  <a:schemeClr val="accent5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14" name="Espace réservé du pied de page 12"/>
          <p:cNvSpPr>
            <a:spLocks noGrp="1"/>
          </p:cNvSpPr>
          <p:nvPr>
            <p:ph type="ftr" sz="quarter" idx="15"/>
          </p:nvPr>
        </p:nvSpPr>
        <p:spPr>
          <a:xfrm>
            <a:off x="3059113" y="3573463"/>
            <a:ext cx="5905500" cy="287337"/>
          </a:xfrm>
          <a:prstGeom prst="rect">
            <a:avLst/>
          </a:prstGeom>
        </p:spPr>
        <p:txBody>
          <a:bodyPr/>
          <a:lstStyle>
            <a:lvl1pPr algn="l">
              <a:defRPr sz="1400" cap="none" baseline="0">
                <a:solidFill>
                  <a:schemeClr val="accent5"/>
                </a:solidFill>
              </a:defRPr>
            </a:lvl1pPr>
          </a:lstStyle>
          <a:p>
            <a:pPr>
              <a:defRPr/>
            </a:pPr>
            <a:r>
              <a:rPr lang="fr-FR"/>
              <a:t>Nom événement | Nom Prénom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460520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re 3 visuels_CEA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2843213" cy="6884988"/>
          </a:xfrm>
          <a:prstGeom prst="rect">
            <a:avLst/>
          </a:prstGeom>
          <a:gradFill flip="none" rotWithShape="1">
            <a:gsLst>
              <a:gs pos="0">
                <a:srgbClr val="E60019"/>
              </a:gs>
              <a:gs pos="100000">
                <a:srgbClr val="87000A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2843213" y="6742113"/>
            <a:ext cx="6300787" cy="142875"/>
          </a:xfrm>
          <a:prstGeom prst="rect">
            <a:avLst/>
          </a:prstGeom>
          <a:gradFill>
            <a:gsLst>
              <a:gs pos="0">
                <a:srgbClr val="0A6E28">
                  <a:lumMod val="100000"/>
                </a:srgbClr>
              </a:gs>
              <a:gs pos="100000">
                <a:srgbClr val="91C30A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>
              <a:solidFill>
                <a:prstClr val="white"/>
              </a:solidFill>
            </a:endParaRPr>
          </a:p>
        </p:txBody>
      </p:sp>
      <p:pic>
        <p:nvPicPr>
          <p:cNvPr id="8" name="Image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363" y="1020763"/>
            <a:ext cx="2393950" cy="633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2" descr="C:\Users\mp222957\Desktop\LOGO perso\LOGOS 2\List\List_vectoriel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0" y="5113338"/>
            <a:ext cx="1128713" cy="37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Image 10" descr="digiteo-couleur-sans-baseline_web.gif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2077" y="6319838"/>
            <a:ext cx="792163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Image 11" descr="Logo_IC_CEA_LIST_carre.jpg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715" b="28154"/>
          <a:stretch>
            <a:fillRect/>
          </a:stretch>
        </p:blipFill>
        <p:spPr bwMode="auto">
          <a:xfrm>
            <a:off x="2874963" y="6284913"/>
            <a:ext cx="741362" cy="312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itre 1"/>
          <p:cNvSpPr>
            <a:spLocks noGrp="1"/>
          </p:cNvSpPr>
          <p:nvPr>
            <p:ph type="ctrTitle"/>
          </p:nvPr>
        </p:nvSpPr>
        <p:spPr>
          <a:xfrm>
            <a:off x="3059833" y="1556792"/>
            <a:ext cx="5904655" cy="2016224"/>
          </a:xfrm>
          <a:prstGeom prst="rect">
            <a:avLst/>
          </a:prstGeom>
        </p:spPr>
        <p:txBody>
          <a:bodyPr anchor="ctr" anchorCtr="0"/>
          <a:lstStyle>
            <a:lvl1pPr algn="l">
              <a:lnSpc>
                <a:spcPts val="3800"/>
              </a:lnSpc>
              <a:defRPr sz="2800" b="1" cap="all" baseline="0">
                <a:solidFill>
                  <a:schemeClr val="accent5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14" name="Espace réservé pour une image  11"/>
          <p:cNvSpPr>
            <a:spLocks noGrp="1"/>
          </p:cNvSpPr>
          <p:nvPr>
            <p:ph type="pic" sz="quarter" idx="14"/>
          </p:nvPr>
        </p:nvSpPr>
        <p:spPr>
          <a:xfrm>
            <a:off x="2843808" y="4051822"/>
            <a:ext cx="2098800" cy="2124000"/>
          </a:xfrm>
          <a:prstGeom prst="rect">
            <a:avLst/>
          </a:prstGeom>
          <a:solidFill>
            <a:srgbClr val="666666"/>
          </a:solidFill>
        </p:spPr>
        <p:txBody>
          <a:bodyPr anchor="ctr"/>
          <a:lstStyle>
            <a:lvl1pPr marL="0" indent="0"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noProof="0" smtClean="0"/>
              <a:t>Cliquez sur l'icône pour ajouter une image</a:t>
            </a:r>
            <a:endParaRPr lang="fr-FR" noProof="0" dirty="0"/>
          </a:p>
        </p:txBody>
      </p:sp>
      <p:sp>
        <p:nvSpPr>
          <p:cNvPr id="15" name="Espace réservé pour une image  11"/>
          <p:cNvSpPr>
            <a:spLocks noGrp="1"/>
          </p:cNvSpPr>
          <p:nvPr>
            <p:ph type="pic" sz="quarter" idx="23"/>
          </p:nvPr>
        </p:nvSpPr>
        <p:spPr>
          <a:xfrm>
            <a:off x="4941319" y="4051822"/>
            <a:ext cx="2098800" cy="2124000"/>
          </a:xfrm>
          <a:prstGeom prst="rect">
            <a:avLst/>
          </a:prstGeom>
          <a:solidFill>
            <a:srgbClr val="666666"/>
          </a:solidFill>
        </p:spPr>
        <p:txBody>
          <a:bodyPr anchor="ctr"/>
          <a:lstStyle>
            <a:lvl1pPr marL="0" indent="0"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noProof="0" smtClean="0"/>
              <a:t>Cliquez sur l'icône pour ajouter une image</a:t>
            </a:r>
            <a:endParaRPr lang="fr-FR" noProof="0" dirty="0"/>
          </a:p>
        </p:txBody>
      </p:sp>
      <p:sp>
        <p:nvSpPr>
          <p:cNvPr id="16" name="Espace réservé pour une image  11"/>
          <p:cNvSpPr>
            <a:spLocks noGrp="1"/>
          </p:cNvSpPr>
          <p:nvPr>
            <p:ph type="pic" sz="quarter" idx="24"/>
          </p:nvPr>
        </p:nvSpPr>
        <p:spPr>
          <a:xfrm>
            <a:off x="7047301" y="4051822"/>
            <a:ext cx="2098800" cy="2124000"/>
          </a:xfrm>
          <a:prstGeom prst="rect">
            <a:avLst/>
          </a:prstGeom>
          <a:solidFill>
            <a:srgbClr val="666666"/>
          </a:solidFill>
        </p:spPr>
        <p:txBody>
          <a:bodyPr anchor="ctr"/>
          <a:lstStyle>
            <a:lvl1pPr marL="0" indent="0"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noProof="0" smtClean="0"/>
              <a:t>Cliquez sur l'icône pour ajouter une image</a:t>
            </a:r>
            <a:endParaRPr lang="fr-FR" noProof="0" dirty="0"/>
          </a:p>
        </p:txBody>
      </p:sp>
      <p:sp>
        <p:nvSpPr>
          <p:cNvPr id="18" name="Espace réservé du pied de page 12"/>
          <p:cNvSpPr>
            <a:spLocks noGrp="1"/>
          </p:cNvSpPr>
          <p:nvPr>
            <p:ph type="ftr" sz="quarter" idx="25"/>
          </p:nvPr>
        </p:nvSpPr>
        <p:spPr>
          <a:xfrm>
            <a:off x="3059113" y="3573463"/>
            <a:ext cx="5905500" cy="287337"/>
          </a:xfrm>
          <a:prstGeom prst="rect">
            <a:avLst/>
          </a:prstGeom>
        </p:spPr>
        <p:txBody>
          <a:bodyPr/>
          <a:lstStyle>
            <a:lvl1pPr algn="l">
              <a:defRPr sz="1400" cap="none" baseline="0">
                <a:solidFill>
                  <a:schemeClr val="accent5"/>
                </a:solidFill>
              </a:defRPr>
            </a:lvl1pPr>
          </a:lstStyle>
          <a:p>
            <a:pPr>
              <a:defRPr/>
            </a:pPr>
            <a:r>
              <a:rPr lang="fr-FR"/>
              <a:t>Nom événement | Nom Prénom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257624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ntercalaire_CEA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8" descr="bandeau_intercalaire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9938" y="0"/>
            <a:ext cx="5834062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itre 1"/>
          <p:cNvSpPr>
            <a:spLocks noGrp="1"/>
          </p:cNvSpPr>
          <p:nvPr>
            <p:ph type="title"/>
          </p:nvPr>
        </p:nvSpPr>
        <p:spPr>
          <a:xfrm>
            <a:off x="3672000" y="1949598"/>
            <a:ext cx="5364496" cy="4719761"/>
          </a:xfrm>
          <a:prstGeom prst="rect">
            <a:avLst/>
          </a:prstGeom>
        </p:spPr>
        <p:txBody>
          <a:bodyPr anchor="t"/>
          <a:lstStyle>
            <a:lvl1pPr algn="l">
              <a:lnSpc>
                <a:spcPts val="2800"/>
              </a:lnSpc>
              <a:defRPr sz="2200" b="1" cap="all"/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11" name="Espace réservé du texte 2"/>
          <p:cNvSpPr>
            <a:spLocks noGrp="1"/>
          </p:cNvSpPr>
          <p:nvPr>
            <p:ph type="body" idx="1"/>
          </p:nvPr>
        </p:nvSpPr>
        <p:spPr>
          <a:xfrm>
            <a:off x="3672000" y="260649"/>
            <a:ext cx="5292488" cy="1584176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ts val="1200"/>
              </a:lnSpc>
              <a:spcAft>
                <a:spcPts val="0"/>
              </a:spcAft>
              <a:buNone/>
              <a:defRPr sz="85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6017642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_CEA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space réservé du contenu 16"/>
          <p:cNvSpPr>
            <a:spLocks noGrp="1"/>
          </p:cNvSpPr>
          <p:nvPr>
            <p:ph sz="quarter" idx="18"/>
          </p:nvPr>
        </p:nvSpPr>
        <p:spPr>
          <a:xfrm>
            <a:off x="539750" y="1628800"/>
            <a:ext cx="8208963" cy="4680520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itchFamily="34" charset="0"/>
              <a:buChar char="•"/>
              <a:defRPr sz="2000">
                <a:solidFill>
                  <a:schemeClr val="accent5"/>
                </a:solidFill>
              </a:defRPr>
            </a:lvl1pPr>
            <a:lvl2pPr marL="801688" indent="-360363">
              <a:defRPr sz="1800"/>
            </a:lvl2pPr>
            <a:lvl3pPr marL="1171575" indent="-285750">
              <a:buSzPct val="60000"/>
              <a:buFont typeface="Arial" pitchFamily="34" charset="0"/>
              <a:buChar char="•"/>
              <a:defRPr sz="1600"/>
            </a:lvl3pPr>
            <a:lvl4pPr marL="838200" indent="0">
              <a:buFont typeface="Arial" pitchFamily="34" charset="0"/>
              <a:buNone/>
              <a:defRPr/>
            </a:lvl4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9"/>
          </p:nvPr>
        </p:nvSpPr>
        <p:spPr>
          <a:xfrm>
            <a:off x="539750" y="981075"/>
            <a:ext cx="8208963" cy="6477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defRPr sz="2000" cap="all" baseline="0"/>
            </a:lvl1pPr>
          </a:lstStyle>
          <a:p>
            <a:pPr lvl="0"/>
            <a:r>
              <a:rPr lang="fr-FR" smtClean="0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5043214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1 visuel_CEA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contenu 20"/>
          <p:cNvSpPr>
            <a:spLocks noGrp="1"/>
          </p:cNvSpPr>
          <p:nvPr>
            <p:ph sz="quarter" idx="20"/>
          </p:nvPr>
        </p:nvSpPr>
        <p:spPr>
          <a:xfrm>
            <a:off x="5148000" y="2016000"/>
            <a:ext cx="3492000" cy="3690000"/>
          </a:xfrm>
          <a:prstGeom prst="rect">
            <a:avLst/>
          </a:prstGeom>
          <a:solidFill>
            <a:srgbClr val="666666"/>
          </a:solidFill>
        </p:spPr>
        <p:txBody>
          <a:bodyPr anchor="ctr"/>
          <a:lstStyle>
            <a:lvl1pPr marL="0" indent="0"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9" name="Espace réservé du contenu 16"/>
          <p:cNvSpPr>
            <a:spLocks noGrp="1"/>
          </p:cNvSpPr>
          <p:nvPr>
            <p:ph sz="quarter" idx="18"/>
          </p:nvPr>
        </p:nvSpPr>
        <p:spPr>
          <a:xfrm>
            <a:off x="539751" y="1628800"/>
            <a:ext cx="4464298" cy="4680520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itchFamily="34" charset="0"/>
              <a:buChar char="•"/>
              <a:defRPr sz="2000">
                <a:solidFill>
                  <a:schemeClr val="accent5"/>
                </a:solidFill>
              </a:defRPr>
            </a:lvl1pPr>
            <a:lvl2pPr marL="801688" indent="-360363">
              <a:defRPr sz="1800"/>
            </a:lvl2pPr>
            <a:lvl3pPr marL="1171575" indent="-285750">
              <a:buSzPct val="60000"/>
              <a:buFont typeface="Arial" pitchFamily="34" charset="0"/>
              <a:buChar char="•"/>
              <a:defRPr sz="1600"/>
            </a:lvl3pPr>
            <a:lvl4pPr marL="838200" indent="0">
              <a:buFont typeface="Arial" pitchFamily="34" charset="0"/>
              <a:buNone/>
              <a:defRPr/>
            </a:lvl4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</p:txBody>
      </p:sp>
      <p:sp>
        <p:nvSpPr>
          <p:cNvPr id="13" name="Espace réservé du texte 3"/>
          <p:cNvSpPr>
            <a:spLocks noGrp="1"/>
          </p:cNvSpPr>
          <p:nvPr>
            <p:ph type="body" sz="quarter" idx="19"/>
          </p:nvPr>
        </p:nvSpPr>
        <p:spPr>
          <a:xfrm>
            <a:off x="539751" y="981075"/>
            <a:ext cx="4464298" cy="6477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defRPr sz="2000" cap="all" baseline="0"/>
            </a:lvl1pPr>
          </a:lstStyle>
          <a:p>
            <a:pPr lvl="0"/>
            <a:r>
              <a:rPr lang="fr-FR" smtClean="0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6675472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3 visuels_CEA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Espace réservé du contenu 20"/>
          <p:cNvSpPr>
            <a:spLocks noGrp="1"/>
          </p:cNvSpPr>
          <p:nvPr>
            <p:ph sz="quarter" idx="21"/>
          </p:nvPr>
        </p:nvSpPr>
        <p:spPr>
          <a:xfrm>
            <a:off x="5148000" y="2016000"/>
            <a:ext cx="3492000" cy="1980000"/>
          </a:xfrm>
          <a:prstGeom prst="rect">
            <a:avLst/>
          </a:prstGeom>
          <a:solidFill>
            <a:srgbClr val="666666"/>
          </a:solidFill>
        </p:spPr>
        <p:txBody>
          <a:bodyPr anchor="ctr"/>
          <a:lstStyle>
            <a:lvl1pPr marL="0" indent="0"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6" name="Espace réservé du contenu 20"/>
          <p:cNvSpPr>
            <a:spLocks noGrp="1"/>
          </p:cNvSpPr>
          <p:nvPr>
            <p:ph sz="quarter" idx="22"/>
          </p:nvPr>
        </p:nvSpPr>
        <p:spPr>
          <a:xfrm>
            <a:off x="5148000" y="3999600"/>
            <a:ext cx="1746000" cy="1695600"/>
          </a:xfrm>
          <a:prstGeom prst="rect">
            <a:avLst/>
          </a:prstGeom>
          <a:solidFill>
            <a:srgbClr val="808080"/>
          </a:solidFill>
        </p:spPr>
        <p:txBody>
          <a:bodyPr anchor="ctr"/>
          <a:lstStyle>
            <a:lvl1pPr marL="0" indent="0"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7" name="Espace réservé du contenu 20"/>
          <p:cNvSpPr>
            <a:spLocks noGrp="1"/>
          </p:cNvSpPr>
          <p:nvPr>
            <p:ph sz="quarter" idx="23"/>
          </p:nvPr>
        </p:nvSpPr>
        <p:spPr>
          <a:xfrm>
            <a:off x="6894000" y="3999600"/>
            <a:ext cx="1746000" cy="1695600"/>
          </a:xfrm>
          <a:prstGeom prst="rect">
            <a:avLst/>
          </a:prstGeom>
          <a:solidFill>
            <a:srgbClr val="B2B2B2"/>
          </a:solidFill>
        </p:spPr>
        <p:txBody>
          <a:bodyPr anchor="ctr"/>
          <a:lstStyle>
            <a:lvl1pPr marL="0" indent="0"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1" name="Espace réservé du contenu 16"/>
          <p:cNvSpPr>
            <a:spLocks noGrp="1"/>
          </p:cNvSpPr>
          <p:nvPr>
            <p:ph sz="quarter" idx="18"/>
          </p:nvPr>
        </p:nvSpPr>
        <p:spPr>
          <a:xfrm>
            <a:off x="539751" y="1628800"/>
            <a:ext cx="4464298" cy="4680520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itchFamily="34" charset="0"/>
              <a:buChar char="•"/>
              <a:defRPr sz="2000">
                <a:solidFill>
                  <a:schemeClr val="accent5"/>
                </a:solidFill>
              </a:defRPr>
            </a:lvl1pPr>
            <a:lvl2pPr marL="801688" indent="-360363">
              <a:defRPr sz="1800"/>
            </a:lvl2pPr>
            <a:lvl3pPr marL="1171575" indent="-285750">
              <a:buSzPct val="60000"/>
              <a:buFont typeface="Arial" pitchFamily="34" charset="0"/>
              <a:buChar char="•"/>
              <a:defRPr sz="1600"/>
            </a:lvl3pPr>
            <a:lvl4pPr marL="838200" indent="0">
              <a:buFont typeface="Arial" pitchFamily="34" charset="0"/>
              <a:buNone/>
              <a:defRPr/>
            </a:lvl4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</p:txBody>
      </p:sp>
      <p:sp>
        <p:nvSpPr>
          <p:cNvPr id="13" name="Espace réservé du texte 3"/>
          <p:cNvSpPr>
            <a:spLocks noGrp="1"/>
          </p:cNvSpPr>
          <p:nvPr>
            <p:ph type="body" sz="quarter" idx="19"/>
          </p:nvPr>
        </p:nvSpPr>
        <p:spPr>
          <a:xfrm>
            <a:off x="539751" y="981075"/>
            <a:ext cx="4464298" cy="6477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defRPr sz="2000" cap="all" baseline="0"/>
            </a:lvl1pPr>
          </a:lstStyle>
          <a:p>
            <a:pPr lvl="0"/>
            <a:r>
              <a:rPr lang="fr-FR" smtClean="0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4161767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graphiques_CEA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contenu 20"/>
          <p:cNvSpPr>
            <a:spLocks noGrp="1"/>
          </p:cNvSpPr>
          <p:nvPr>
            <p:ph sz="quarter" idx="21"/>
          </p:nvPr>
        </p:nvSpPr>
        <p:spPr>
          <a:xfrm>
            <a:off x="576000" y="1458000"/>
            <a:ext cx="8064000" cy="1908000"/>
          </a:xfrm>
          <a:prstGeom prst="rect">
            <a:avLst/>
          </a:prstGeom>
          <a:solidFill>
            <a:srgbClr val="666666"/>
          </a:solidFill>
        </p:spPr>
        <p:txBody>
          <a:bodyPr anchor="ctr"/>
          <a:lstStyle>
            <a:lvl1pPr marL="0" indent="0"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0" name="Espace réservé du contenu 16"/>
          <p:cNvSpPr>
            <a:spLocks noGrp="1"/>
          </p:cNvSpPr>
          <p:nvPr>
            <p:ph sz="quarter" idx="18"/>
          </p:nvPr>
        </p:nvSpPr>
        <p:spPr>
          <a:xfrm>
            <a:off x="539750" y="4077072"/>
            <a:ext cx="8208963" cy="2232248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itchFamily="34" charset="0"/>
              <a:buChar char="•"/>
              <a:defRPr sz="2000">
                <a:solidFill>
                  <a:schemeClr val="accent5"/>
                </a:solidFill>
              </a:defRPr>
            </a:lvl1pPr>
            <a:lvl2pPr marL="801688" indent="-360363">
              <a:defRPr sz="1800"/>
            </a:lvl2pPr>
            <a:lvl3pPr marL="1171575" indent="-285750">
              <a:buSzPct val="60000"/>
              <a:buFont typeface="Arial" pitchFamily="34" charset="0"/>
              <a:buChar char="•"/>
              <a:defRPr sz="1600"/>
            </a:lvl3pPr>
            <a:lvl4pPr marL="838200" indent="0">
              <a:buFont typeface="Arial" pitchFamily="34" charset="0"/>
              <a:buNone/>
              <a:defRPr/>
            </a:lvl4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</p:txBody>
      </p:sp>
      <p:sp>
        <p:nvSpPr>
          <p:cNvPr id="12" name="Espace réservé du texte 3"/>
          <p:cNvSpPr>
            <a:spLocks noGrp="1"/>
          </p:cNvSpPr>
          <p:nvPr>
            <p:ph type="body" sz="quarter" idx="19"/>
          </p:nvPr>
        </p:nvSpPr>
        <p:spPr>
          <a:xfrm>
            <a:off x="539750" y="3429000"/>
            <a:ext cx="8208963" cy="6477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defRPr sz="2000" cap="all" baseline="0"/>
            </a:lvl1pPr>
          </a:lstStyle>
          <a:p>
            <a:pPr lvl="0"/>
            <a:r>
              <a:rPr lang="fr-FR" smtClean="0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7806400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8" descr="carte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238" y="846138"/>
            <a:ext cx="8459787" cy="415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Espace réservé du graphique 32"/>
          <p:cNvSpPr>
            <a:spLocks noGrp="1"/>
          </p:cNvSpPr>
          <p:nvPr>
            <p:ph type="chart" sz="quarter" idx="13"/>
          </p:nvPr>
        </p:nvSpPr>
        <p:spPr>
          <a:xfrm>
            <a:off x="899592" y="5157788"/>
            <a:ext cx="3240360" cy="863600"/>
          </a:xfrm>
          <a:prstGeom prst="rect">
            <a:avLst/>
          </a:prstGeom>
        </p:spPr>
        <p:txBody>
          <a:bodyPr anchor="ctr"/>
          <a:lstStyle>
            <a:lvl1pPr marL="0" indent="0" algn="ctr">
              <a:defRPr sz="1200"/>
            </a:lvl1pPr>
          </a:lstStyle>
          <a:p>
            <a:pPr lvl="0"/>
            <a:r>
              <a:rPr lang="fr-FR" noProof="0" smtClean="0"/>
              <a:t>Cliquez sur l'icône pour ajouter un graphique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1386270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Fin_CEA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8" descr="bandeau_intercalaire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9938" y="0"/>
            <a:ext cx="5834062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Image 11" descr="bandeau_dernière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350"/>
          <a:stretch>
            <a:fillRect/>
          </a:stretch>
        </p:blipFill>
        <p:spPr bwMode="auto">
          <a:xfrm>
            <a:off x="3309938" y="0"/>
            <a:ext cx="5834062" cy="5805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138800" y="5799600"/>
            <a:ext cx="1897200" cy="943200"/>
          </a:xfrm>
          <a:prstGeom prst="rect">
            <a:avLst/>
          </a:prstGeom>
        </p:spPr>
        <p:txBody>
          <a:bodyPr anchor="t" anchorCtr="0"/>
          <a:lstStyle>
            <a:lvl1pPr>
              <a:lnSpc>
                <a:spcPts val="1200"/>
              </a:lnSpc>
              <a:defRPr sz="850" b="0" cap="none" baseline="0">
                <a:solidFill>
                  <a:schemeClr val="bg2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39505" y="5799600"/>
            <a:ext cx="3552775" cy="9432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200"/>
              </a:lnSpc>
              <a:spcAft>
                <a:spcPts val="0"/>
              </a:spcAft>
              <a:buFont typeface="Arial" pitchFamily="34" charset="0"/>
              <a:buNone/>
              <a:defRPr sz="800">
                <a:solidFill>
                  <a:schemeClr val="bg1"/>
                </a:solidFill>
              </a:defRPr>
            </a:lvl1pPr>
            <a:lvl2pPr marL="0" indent="0">
              <a:lnSpc>
                <a:spcPts val="1200"/>
              </a:lnSpc>
              <a:spcBef>
                <a:spcPts val="800"/>
              </a:spcBef>
              <a:buFont typeface="Arial" pitchFamily="34" charset="0"/>
              <a:buNone/>
              <a:defRPr sz="650">
                <a:solidFill>
                  <a:schemeClr val="bg1"/>
                </a:solidFill>
              </a:defRPr>
            </a:lvl2pPr>
            <a:lvl3pPr marL="0" indent="0">
              <a:lnSpc>
                <a:spcPts val="1200"/>
              </a:lnSpc>
              <a:buFont typeface="Arial" pitchFamily="34" charset="0"/>
              <a:buNone/>
              <a:defRPr sz="650">
                <a:solidFill>
                  <a:schemeClr val="bg1"/>
                </a:solidFill>
              </a:defRPr>
            </a:lvl3pPr>
            <a:lvl4pPr marL="0" indent="0">
              <a:lnSpc>
                <a:spcPts val="1200"/>
              </a:lnSpc>
              <a:buFont typeface="Arial" pitchFamily="34" charset="0"/>
              <a:buNone/>
              <a:defRPr sz="650">
                <a:solidFill>
                  <a:schemeClr val="bg1"/>
                </a:solidFill>
              </a:defRPr>
            </a:lvl4pPr>
            <a:lvl5pPr marL="0" indent="0">
              <a:lnSpc>
                <a:spcPts val="1200"/>
              </a:lnSpc>
              <a:buFont typeface="Arial" pitchFamily="34" charset="0"/>
              <a:buNone/>
              <a:defRPr sz="650">
                <a:solidFill>
                  <a:schemeClr val="bg1"/>
                </a:solidFill>
              </a:defRPr>
            </a:lvl5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87138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exte_CEA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space réservé du contenu 16"/>
          <p:cNvSpPr>
            <a:spLocks noGrp="1"/>
          </p:cNvSpPr>
          <p:nvPr>
            <p:ph sz="quarter" idx="18"/>
          </p:nvPr>
        </p:nvSpPr>
        <p:spPr>
          <a:xfrm>
            <a:off x="539552" y="1628800"/>
            <a:ext cx="8208963" cy="4680520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itchFamily="34" charset="0"/>
              <a:buChar char="•"/>
              <a:defRPr sz="2000">
                <a:solidFill>
                  <a:schemeClr val="accent5"/>
                </a:solidFill>
              </a:defRPr>
            </a:lvl1pPr>
            <a:lvl2pPr marL="801688" indent="-360363">
              <a:buClrTx/>
              <a:buFont typeface="Wingdings" pitchFamily="2" charset="2"/>
              <a:buChar char="§"/>
              <a:defRPr sz="1800"/>
            </a:lvl2pPr>
            <a:lvl3pPr marL="1171575" indent="-285750">
              <a:buSzPct val="60000"/>
              <a:buFont typeface="Arial" pitchFamily="34" charset="0"/>
              <a:buChar char="•"/>
              <a:defRPr sz="1600"/>
            </a:lvl3pPr>
            <a:lvl4pPr marL="838200" indent="0">
              <a:buFont typeface="Arial" pitchFamily="34" charset="0"/>
              <a:buNone/>
              <a:defRPr/>
            </a:lvl4pPr>
          </a:lstStyle>
          <a:p>
            <a:pPr lvl="0"/>
            <a:r>
              <a:rPr lang="fr-FR" dirty="0" smtClean="0"/>
              <a:t>Modifiez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539552" y="980728"/>
            <a:ext cx="8229600" cy="648000"/>
          </a:xfrm>
          <a:prstGeom prst="rect">
            <a:avLst/>
          </a:prstGeom>
        </p:spPr>
        <p:txBody>
          <a:bodyPr anchor="ctr" anchorCtr="0"/>
          <a:lstStyle>
            <a:lvl1pPr algn="l">
              <a:defRPr lang="fr-FR" sz="2000" b="1" kern="1200" cap="all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7" name="Espace réservé du texte 2"/>
          <p:cNvSpPr>
            <a:spLocks noGrp="1"/>
          </p:cNvSpPr>
          <p:nvPr>
            <p:ph type="body" sz="quarter" idx="19"/>
          </p:nvPr>
        </p:nvSpPr>
        <p:spPr>
          <a:xfrm>
            <a:off x="1908175" y="92249"/>
            <a:ext cx="4824065" cy="576262"/>
          </a:xfrm>
          <a:prstGeom prst="rect">
            <a:avLst/>
          </a:prstGeom>
        </p:spPr>
        <p:txBody>
          <a:bodyPr anchor="ctr"/>
          <a:lstStyle>
            <a:lvl1pPr algn="l">
              <a:defRPr sz="2000" b="1" cap="all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fr-FR" smtClean="0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2492834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9144000" cy="765175"/>
          </a:xfrm>
          <a:prstGeom prst="rect">
            <a:avLst/>
          </a:prstGeom>
          <a:gradFill flip="none" rotWithShape="1">
            <a:gsLst>
              <a:gs pos="0">
                <a:srgbClr val="E60019"/>
              </a:gs>
              <a:gs pos="100000">
                <a:srgbClr val="87000A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>
              <a:solidFill>
                <a:prstClr val="white"/>
              </a:solidFill>
            </a:endParaRPr>
          </a:p>
        </p:txBody>
      </p:sp>
      <p:pic>
        <p:nvPicPr>
          <p:cNvPr id="1027" name="Picture 2" descr="C:\Users\mp222957\Desktop\LOGO perso\LOGOS 2\List\List_vectoriel.png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2438" y="223838"/>
            <a:ext cx="914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Image 10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250" y="188913"/>
            <a:ext cx="1422400" cy="376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Rectangle 26"/>
          <p:cNvSpPr/>
          <p:nvPr/>
        </p:nvSpPr>
        <p:spPr>
          <a:xfrm>
            <a:off x="0" y="6807200"/>
            <a:ext cx="9144000" cy="53975"/>
          </a:xfrm>
          <a:prstGeom prst="rect">
            <a:avLst/>
          </a:prstGeom>
          <a:gradFill>
            <a:gsLst>
              <a:gs pos="0">
                <a:srgbClr val="0A6E28">
                  <a:lumMod val="100000"/>
                </a:srgbClr>
              </a:gs>
              <a:gs pos="100000">
                <a:srgbClr val="91C30A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>
              <a:solidFill>
                <a:prstClr val="white"/>
              </a:solidFill>
            </a:endParaRPr>
          </a:p>
        </p:txBody>
      </p:sp>
      <p:sp>
        <p:nvSpPr>
          <p:cNvPr id="9" name="ZoneTexte 8"/>
          <p:cNvSpPr txBox="1"/>
          <p:nvPr userDrawn="1"/>
        </p:nvSpPr>
        <p:spPr>
          <a:xfrm>
            <a:off x="8388424" y="727294"/>
            <a:ext cx="7555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B0AFE106-B932-4D59-A3BB-F68DB35E68B1}" type="slidenum">
              <a:rPr lang="fr-FR" sz="1200" smtClean="0">
                <a:solidFill>
                  <a:srgbClr val="5F5F5F"/>
                </a:solidFill>
              </a:rPr>
              <a:pPr algn="r"/>
              <a:t>‹N°›</a:t>
            </a:fld>
            <a:r>
              <a:rPr lang="fr-FR" sz="1200" dirty="0" smtClean="0">
                <a:solidFill>
                  <a:srgbClr val="5F5F5F"/>
                </a:solidFill>
              </a:rPr>
              <a:t>/7</a:t>
            </a:r>
          </a:p>
        </p:txBody>
      </p:sp>
      <p:sp>
        <p:nvSpPr>
          <p:cNvPr id="15" name="Espace réservé du pied de page 3"/>
          <p:cNvSpPr txBox="1">
            <a:spLocks/>
          </p:cNvSpPr>
          <p:nvPr userDrawn="1"/>
        </p:nvSpPr>
        <p:spPr>
          <a:xfrm>
            <a:off x="468312" y="6563667"/>
            <a:ext cx="8675688" cy="290512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100" kern="1200">
                <a:solidFill>
                  <a:srgbClr val="5F5F5F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>
              <a:defRPr/>
            </a:pP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Round-trip Engineering of UMLRT Runtime System</a:t>
            </a:r>
            <a:endParaRPr lang="fr-F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7" r:id="rId1"/>
    <p:sldLayoutId id="2147483768" r:id="rId2"/>
    <p:sldLayoutId id="2147483769" r:id="rId3"/>
    <p:sldLayoutId id="2147483770" r:id="rId4"/>
    <p:sldLayoutId id="2147483771" r:id="rId5"/>
    <p:sldLayoutId id="2147483772" r:id="rId6"/>
    <p:sldLayoutId id="2147483773" r:id="rId7"/>
    <p:sldLayoutId id="2147483774" r:id="rId8"/>
    <p:sldLayoutId id="2147483775" r:id="rId9"/>
    <p:sldLayoutId id="2147483776" r:id="rId10"/>
    <p:sldLayoutId id="2147483777" r:id="rId11"/>
  </p:sldLayoutIdLst>
  <p:timing>
    <p:tnLst>
      <p:par>
        <p:cTn id="1" dur="indefinite" restart="never" nodeType="tmRoot"/>
      </p:par>
    </p:tnLst>
  </p:timing>
  <p:hf sldNum="0" hd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2000" b="1" kern="1200" cap="all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charset="0"/>
        </a:defRPr>
      </a:lvl5pPr>
      <a:lvl6pPr marL="457200" algn="r" rtl="0" fontAlgn="base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charset="0"/>
        </a:defRPr>
      </a:lvl9pPr>
    </p:titleStyle>
    <p:bodyStyle>
      <a:lvl1pPr algn="l" rtl="0" eaLnBrk="0" fontAlgn="base" hangingPunct="0">
        <a:spcBef>
          <a:spcPct val="0"/>
        </a:spcBef>
        <a:spcAft>
          <a:spcPts val="400"/>
        </a:spcAft>
        <a:buFont typeface="Arial" charset="0"/>
        <a:defRPr sz="2400" b="1" kern="1200">
          <a:solidFill>
            <a:schemeClr val="tx2"/>
          </a:solidFill>
          <a:latin typeface="+mn-lt"/>
          <a:ea typeface="+mn-ea"/>
          <a:cs typeface="+mn-cs"/>
        </a:defRPr>
      </a:lvl1pPr>
      <a:lvl2pPr marL="360363" indent="-360363" algn="l" rtl="0" eaLnBrk="0" fontAlgn="base" hangingPunct="0">
        <a:spcBef>
          <a:spcPct val="0"/>
        </a:spcBef>
        <a:spcAft>
          <a:spcPct val="0"/>
        </a:spcAft>
        <a:buSzPct val="100000"/>
        <a:buFont typeface="Arial" charset="0"/>
        <a:buChar char="•"/>
        <a:defRPr sz="2000" kern="1200">
          <a:solidFill>
            <a:srgbClr val="5F5F5F"/>
          </a:solidFill>
          <a:latin typeface="+mn-lt"/>
          <a:ea typeface="+mn-ea"/>
          <a:cs typeface="+mn-cs"/>
        </a:defRPr>
      </a:lvl2pPr>
      <a:lvl3pPr marL="647700" indent="-285750" algn="l" rtl="0" eaLnBrk="0" fontAlgn="base" hangingPunct="0">
        <a:spcBef>
          <a:spcPct val="0"/>
        </a:spcBef>
        <a:spcAft>
          <a:spcPct val="0"/>
        </a:spcAft>
        <a:buSzPct val="75000"/>
        <a:buFont typeface="Arial" charset="0"/>
        <a:buChar char="•"/>
        <a:defRPr kern="1200">
          <a:solidFill>
            <a:srgbClr val="5F5F5F"/>
          </a:solidFill>
          <a:latin typeface="+mn-lt"/>
          <a:ea typeface="+mn-ea"/>
          <a:cs typeface="+mn-cs"/>
        </a:defRPr>
      </a:lvl3pPr>
      <a:lvl4pPr marL="1009650" indent="-238125" algn="l" rtl="0" eaLnBrk="0" fontAlgn="base" hangingPunct="0">
        <a:lnSpc>
          <a:spcPts val="2000"/>
        </a:lnSpc>
        <a:spcBef>
          <a:spcPct val="0"/>
        </a:spcBef>
        <a:spcAft>
          <a:spcPct val="0"/>
        </a:spcAft>
        <a:buClr>
          <a:srgbClr val="666666"/>
        </a:buClr>
        <a:buSzPct val="36000"/>
        <a:buBlip>
          <a:blip r:embed="rId15"/>
        </a:buBlip>
        <a:defRPr sz="1600" kern="1200">
          <a:solidFill>
            <a:srgbClr val="666666"/>
          </a:solidFill>
          <a:latin typeface="+mn-lt"/>
          <a:ea typeface="+mn-ea"/>
          <a:cs typeface="+mn-cs"/>
        </a:defRPr>
      </a:lvl4pPr>
      <a:lvl5pPr marL="1133475" indent="-114300" algn="l" rtl="0" eaLnBrk="0" fontAlgn="base" hangingPunct="0">
        <a:lnSpc>
          <a:spcPts val="2000"/>
        </a:lnSpc>
        <a:spcBef>
          <a:spcPct val="0"/>
        </a:spcBef>
        <a:spcAft>
          <a:spcPct val="0"/>
        </a:spcAft>
        <a:buClr>
          <a:srgbClr val="666666"/>
        </a:buClr>
        <a:buFont typeface="Arial" charset="0"/>
        <a:buChar char="-"/>
        <a:defRPr sz="1600" kern="1200">
          <a:solidFill>
            <a:srgbClr val="66666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.eclipse.org/r/#/c/65772/" TargetMode="External"/><Relationship Id="rId2" Type="http://schemas.openxmlformats.org/officeDocument/2006/relationships/hyperlink" Target="https://hudson.eclipse.org/papyrus/view/Designer/job/papyrus-designer-neon-papyrusnightly/ws/releng/org.eclipse.papyrus.designer.p2/target/repository/index.html" TargetMode="Externa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3059113" y="620688"/>
            <a:ext cx="5905500" cy="18002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Round-trip Engineering of UMLRT Runtime System</a:t>
            </a:r>
            <a:endParaRPr lang="fr-FR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315" name="Espace réservé pour une image  2"/>
          <p:cNvSpPr>
            <a:spLocks noGrp="1"/>
          </p:cNvSpPr>
          <p:nvPr>
            <p:ph type="pic" sz="quarter" idx="14"/>
          </p:nvPr>
        </p:nvSpPr>
        <p:spPr bwMode="auto">
          <a:xfrm>
            <a:off x="2843213" y="4051300"/>
            <a:ext cx="2098675" cy="2124075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3316" name="Espace réservé pour une image  3"/>
          <p:cNvSpPr>
            <a:spLocks noGrp="1"/>
          </p:cNvSpPr>
          <p:nvPr>
            <p:ph type="pic" sz="quarter" idx="23"/>
          </p:nvPr>
        </p:nvSpPr>
        <p:spPr bwMode="auto">
          <a:xfrm>
            <a:off x="4941888" y="4051300"/>
            <a:ext cx="2098675" cy="2124075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3317" name="Espace réservé pour une image  4"/>
          <p:cNvSpPr>
            <a:spLocks noGrp="1"/>
          </p:cNvSpPr>
          <p:nvPr>
            <p:ph type="pic" sz="quarter" idx="24"/>
          </p:nvPr>
        </p:nvSpPr>
        <p:spPr bwMode="auto">
          <a:xfrm>
            <a:off x="7046913" y="4051300"/>
            <a:ext cx="2098675" cy="2124075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6" name="Espace réservé du pied de page 5"/>
          <p:cNvSpPr>
            <a:spLocks noGrp="1"/>
          </p:cNvSpPr>
          <p:nvPr>
            <p:ph type="ftr" sz="quarter" idx="25"/>
          </p:nvPr>
        </p:nvSpPr>
        <p:spPr>
          <a:xfrm>
            <a:off x="3059113" y="2708920"/>
            <a:ext cx="5905500" cy="936104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600"/>
              </a:spcAft>
              <a:defRPr/>
            </a:pPr>
            <a:r>
              <a:rPr lang="fr-FR" dirty="0" smtClean="0"/>
              <a:t>Shuai Li, Ansgar </a:t>
            </a:r>
            <a:r>
              <a:rPr lang="fr-FR" dirty="0" err="1" smtClean="0"/>
              <a:t>Radermacher</a:t>
            </a:r>
            <a:r>
              <a:rPr lang="fr-FR" dirty="0" smtClean="0"/>
              <a:t>, Van Cam Pham, Rémi </a:t>
            </a:r>
            <a:r>
              <a:rPr lang="fr-FR" dirty="0" err="1" smtClean="0"/>
              <a:t>Schnekenburger</a:t>
            </a:r>
            <a:r>
              <a:rPr lang="fr-FR" dirty="0" smtClean="0"/>
              <a:t>, Chokri </a:t>
            </a:r>
            <a:r>
              <a:rPr lang="fr-FR" dirty="0" err="1" smtClean="0"/>
              <a:t>Mraidha</a:t>
            </a:r>
            <a:r>
              <a:rPr lang="fr-FR" dirty="0" smtClean="0"/>
              <a:t>, Sébastien Gérard</a:t>
            </a:r>
          </a:p>
          <a:p>
            <a:pPr>
              <a:spcBef>
                <a:spcPts val="0"/>
              </a:spcBef>
              <a:spcAft>
                <a:spcPts val="600"/>
              </a:spcAft>
              <a:defRPr/>
            </a:pPr>
            <a:r>
              <a:rPr lang="fr-FR" dirty="0" smtClean="0"/>
              <a:t>{</a:t>
            </a:r>
            <a:r>
              <a:rPr lang="fr-FR" dirty="0" err="1" smtClean="0"/>
              <a:t>first_name</a:t>
            </a:r>
            <a:r>
              <a:rPr lang="fr-FR" dirty="0" smtClean="0"/>
              <a:t>}.{</a:t>
            </a:r>
            <a:r>
              <a:rPr lang="fr-FR" dirty="0" err="1" smtClean="0"/>
              <a:t>last_name</a:t>
            </a:r>
            <a:r>
              <a:rPr lang="fr-FR" dirty="0"/>
              <a:t>}</a:t>
            </a:r>
            <a:r>
              <a:rPr lang="fr-FR" dirty="0" smtClean="0"/>
              <a:t>@cea.fr</a:t>
            </a:r>
            <a:endParaRPr lang="fr-FR" dirty="0"/>
          </a:p>
        </p:txBody>
      </p:sp>
      <p:pic>
        <p:nvPicPr>
          <p:cNvPr id="13320" name="Espace réservé pour une image  6"/>
          <p:cNvPicPr>
            <a:picLocks noGrp="1"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9563" y="4057650"/>
            <a:ext cx="2098675" cy="2124075"/>
          </a:xfrm>
          <a:prstGeom prst="rect">
            <a:avLst/>
          </a:prstGeom>
          <a:solidFill>
            <a:srgbClr val="66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21" name="Espace réservé pour une image  7"/>
          <p:cNvPicPr>
            <a:picLocks noGrp="1"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6650" y="4057650"/>
            <a:ext cx="2098675" cy="2124075"/>
          </a:xfrm>
          <a:prstGeom prst="rect">
            <a:avLst/>
          </a:prstGeom>
          <a:solidFill>
            <a:srgbClr val="66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22" name="Espace réservé pour une image  8"/>
          <p:cNvPicPr>
            <a:picLocks noGrp="1"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1675" y="4057650"/>
            <a:ext cx="2100263" cy="2124075"/>
          </a:xfrm>
          <a:prstGeom prst="rect">
            <a:avLst/>
          </a:prstGeom>
          <a:solidFill>
            <a:srgbClr val="66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4368" y="6309320"/>
            <a:ext cx="1152003" cy="316800"/>
          </a:xfrm>
          <a:prstGeom prst="rect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/>
          <p:cNvSpPr>
            <a:spLocks noGrp="1"/>
          </p:cNvSpPr>
          <p:nvPr>
            <p:ph sz="quarter" idx="18"/>
          </p:nvPr>
        </p:nvSpPr>
        <p:spPr>
          <a:xfrm>
            <a:off x="539750" y="982663"/>
            <a:ext cx="8208963" cy="5326657"/>
          </a:xfrm>
        </p:spPr>
        <p:txBody>
          <a:bodyPr/>
          <a:lstStyle/>
          <a:p>
            <a:pPr marL="0" indent="0"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en-US" dirty="0" smtClean="0">
                <a:solidFill>
                  <a:srgbClr val="E60019"/>
                </a:solidFill>
              </a:rPr>
              <a:t>Previous work</a:t>
            </a:r>
            <a:endParaRPr lang="en-US" dirty="0" smtClean="0"/>
          </a:p>
          <a:p>
            <a:pPr marL="53010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1800" dirty="0" smtClean="0">
                <a:solidFill>
                  <a:srgbClr val="323265"/>
                </a:solidFill>
              </a:rPr>
              <a:t>Manual reverse of UMLRT runtime C++ code to UML model</a:t>
            </a:r>
          </a:p>
          <a:p>
            <a:pPr marL="53010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1800" dirty="0" smtClean="0">
                <a:solidFill>
                  <a:srgbClr val="323265"/>
                </a:solidFill>
              </a:rPr>
              <a:t>Task was tedious and we couldn’t catch up with the latest version if reverse is done manually</a:t>
            </a:r>
          </a:p>
          <a:p>
            <a:pPr marL="53010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1800" dirty="0" smtClean="0">
                <a:solidFill>
                  <a:srgbClr val="323265"/>
                </a:solidFill>
                <a:sym typeface="Wingdings" panose="05000000000000000000" pitchFamily="2" charset="2"/>
              </a:rPr>
              <a:t> Proposition of a round-trip engineering tool in Papyrus to automatically handle differences between code and model</a:t>
            </a:r>
            <a:endParaRPr lang="en-US" sz="1800" dirty="0" smtClean="0">
              <a:solidFill>
                <a:srgbClr val="323265"/>
              </a:solidFill>
            </a:endParaRPr>
          </a:p>
          <a:p>
            <a:pPr marL="0" lvl="0" indent="0"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en-US" dirty="0" smtClean="0">
                <a:solidFill>
                  <a:srgbClr val="E60019"/>
                </a:solidFill>
              </a:rPr>
              <a:t>Topic of the day</a:t>
            </a:r>
            <a:endParaRPr lang="en-US" dirty="0">
              <a:solidFill>
                <a:srgbClr val="5F5F5F"/>
              </a:solidFill>
            </a:endParaRPr>
          </a:p>
          <a:p>
            <a:pPr marL="530100" lvl="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1800" dirty="0" smtClean="0">
                <a:solidFill>
                  <a:srgbClr val="323265"/>
                </a:solidFill>
              </a:rPr>
              <a:t>Round-trip engineering of the UMLRT runtime</a:t>
            </a:r>
          </a:p>
          <a:p>
            <a:pPr marL="530100" lvl="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1800" dirty="0" smtClean="0">
                <a:solidFill>
                  <a:srgbClr val="323265"/>
                </a:solidFill>
              </a:rPr>
              <a:t>Discuss collaboration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1908175" y="92075"/>
            <a:ext cx="4824413" cy="576263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Context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79775468"/>
      </p:ext>
    </p:extLst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/>
          <p:cNvSpPr>
            <a:spLocks noGrp="1"/>
          </p:cNvSpPr>
          <p:nvPr>
            <p:ph sz="quarter" idx="18"/>
          </p:nvPr>
        </p:nvSpPr>
        <p:spPr>
          <a:xfrm>
            <a:off x="539750" y="982663"/>
            <a:ext cx="8208963" cy="3598465"/>
          </a:xfrm>
        </p:spPr>
        <p:txBody>
          <a:bodyPr/>
          <a:lstStyle/>
          <a:p>
            <a:pPr marL="0" lvl="0" indent="0"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en-US" dirty="0" smtClean="0">
                <a:solidFill>
                  <a:srgbClr val="E60019"/>
                </a:solidFill>
              </a:rPr>
              <a:t>Objective</a:t>
            </a:r>
            <a:endParaRPr lang="en-US" dirty="0">
              <a:solidFill>
                <a:srgbClr val="5F5F5F"/>
              </a:solidFill>
            </a:endParaRPr>
          </a:p>
          <a:p>
            <a:pPr marL="530100" lvl="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1800" dirty="0" smtClean="0">
                <a:solidFill>
                  <a:srgbClr val="323265"/>
                </a:solidFill>
              </a:rPr>
              <a:t>Refactor some parts of the runtime so they respect more the object-oriented design</a:t>
            </a:r>
          </a:p>
          <a:p>
            <a:pPr marL="0" lvl="0" indent="0"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en-US" dirty="0" smtClean="0">
                <a:solidFill>
                  <a:srgbClr val="E60019"/>
                </a:solidFill>
              </a:rPr>
              <a:t>Refactor rules</a:t>
            </a:r>
            <a:endParaRPr lang="en-US" dirty="0">
              <a:solidFill>
                <a:srgbClr val="5F5F5F"/>
              </a:solidFill>
            </a:endParaRPr>
          </a:p>
          <a:p>
            <a:pPr marL="530100" lvl="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1800" dirty="0" smtClean="0">
                <a:solidFill>
                  <a:srgbClr val="323265"/>
                </a:solidFill>
              </a:rPr>
              <a:t>Extern fields refactored as public static members of class</a:t>
            </a:r>
          </a:p>
          <a:p>
            <a:pPr marL="530100" lvl="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1800" dirty="0" smtClean="0">
                <a:solidFill>
                  <a:srgbClr val="323265"/>
                </a:solidFill>
              </a:rPr>
              <a:t>File scope fields refactored as private static members of a class</a:t>
            </a:r>
          </a:p>
          <a:p>
            <a:pPr marL="530100" lvl="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1800" dirty="0" smtClean="0">
                <a:solidFill>
                  <a:srgbClr val="323265"/>
                </a:solidFill>
              </a:rPr>
              <a:t>Type definitions outside of class refactored within the class that uses the type (if it is there is only one class that uses the type)</a:t>
            </a:r>
          </a:p>
          <a:p>
            <a:pPr marL="530100" lvl="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1800" dirty="0" smtClean="0">
                <a:solidFill>
                  <a:srgbClr val="323265"/>
                </a:solidFill>
              </a:rPr>
              <a:t>Files that only contain utility functions, variables, types, </a:t>
            </a:r>
            <a:r>
              <a:rPr lang="en-US" sz="1800" dirty="0" err="1" smtClean="0">
                <a:solidFill>
                  <a:srgbClr val="323265"/>
                </a:solidFill>
              </a:rPr>
              <a:t>etc</a:t>
            </a:r>
            <a:r>
              <a:rPr lang="en-US" sz="1800" dirty="0" smtClean="0">
                <a:solidFill>
                  <a:srgbClr val="323265"/>
                </a:solidFill>
              </a:rPr>
              <a:t>… are refactored within a class (e.g. </a:t>
            </a:r>
            <a:r>
              <a:rPr lang="en-US" sz="1800" dirty="0" err="1" smtClean="0">
                <a:solidFill>
                  <a:srgbClr val="323265"/>
                </a:solidFill>
              </a:rPr>
              <a:t>UMLRTApi</a:t>
            </a:r>
            <a:r>
              <a:rPr lang="en-US" sz="1800" dirty="0" smtClean="0">
                <a:solidFill>
                  <a:srgbClr val="323265"/>
                </a:solidFill>
              </a:rPr>
              <a:t>, </a:t>
            </a:r>
            <a:r>
              <a:rPr lang="en-US" sz="1800" dirty="0" err="1" smtClean="0">
                <a:solidFill>
                  <a:srgbClr val="323265"/>
                </a:solidFill>
              </a:rPr>
              <a:t>UMLRTPriority</a:t>
            </a:r>
            <a:r>
              <a:rPr lang="en-US" sz="1800" dirty="0" smtClean="0">
                <a:solidFill>
                  <a:srgbClr val="323265"/>
                </a:solidFill>
              </a:rPr>
              <a:t>)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1908175" y="92075"/>
            <a:ext cx="4824413" cy="576263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Code Refactoring</a:t>
            </a:r>
            <a:endParaRPr lang="fr-FR" dirty="0"/>
          </a:p>
        </p:txBody>
      </p:sp>
      <p:grpSp>
        <p:nvGrpSpPr>
          <p:cNvPr id="7" name="Groupe 6"/>
          <p:cNvGrpSpPr/>
          <p:nvPr/>
        </p:nvGrpSpPr>
        <p:grpSpPr>
          <a:xfrm>
            <a:off x="1635190" y="4797153"/>
            <a:ext cx="5873621" cy="792087"/>
            <a:chOff x="1581447" y="1307783"/>
            <a:chExt cx="6885921" cy="1008112"/>
          </a:xfrm>
        </p:grpSpPr>
        <p:sp>
          <p:nvSpPr>
            <p:cNvPr id="8" name="Rectangle à coins arrondis 7"/>
            <p:cNvSpPr/>
            <p:nvPr/>
          </p:nvSpPr>
          <p:spPr>
            <a:xfrm>
              <a:off x="2699792" y="1307783"/>
              <a:ext cx="5767576" cy="1008112"/>
            </a:xfrm>
            <a:prstGeom prst="roundRect">
              <a:avLst/>
            </a:prstGeom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5400000" scaled="0"/>
            </a:gradFill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dirty="0" smtClean="0">
                  <a:solidFill>
                    <a:schemeClr val="tx1"/>
                  </a:solidFill>
                </a:rPr>
                <a:t>Original project still compiles after refactoring.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Rectangle à coins arrondis 8"/>
            <p:cNvSpPr/>
            <p:nvPr/>
          </p:nvSpPr>
          <p:spPr>
            <a:xfrm>
              <a:off x="1581447" y="1307783"/>
              <a:ext cx="914400" cy="825073"/>
            </a:xfrm>
            <a:prstGeom prst="wedgeRoundRectCallout">
              <a:avLst>
                <a:gd name="adj1" fmla="val 49328"/>
                <a:gd name="adj2" fmla="val 69722"/>
                <a:gd name="adj3" fmla="val 16667"/>
              </a:avLst>
            </a:prstGeom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5400000" scaled="0"/>
            </a:gradFill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4400" dirty="0" smtClean="0">
                  <a:solidFill>
                    <a:schemeClr val="tx1"/>
                  </a:solidFill>
                  <a:latin typeface="Ravie" panose="04040805050809020602" pitchFamily="82" charset="0"/>
                </a:rPr>
                <a:t>!</a:t>
              </a:r>
              <a:endParaRPr lang="fr-FR" sz="4400" dirty="0">
                <a:solidFill>
                  <a:schemeClr val="tx1"/>
                </a:solidFill>
                <a:latin typeface="Ravie" panose="04040805050809020602" pitchFamily="8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00993562"/>
      </p:ext>
    </p:extLst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/>
          <p:cNvSpPr>
            <a:spLocks noGrp="1"/>
          </p:cNvSpPr>
          <p:nvPr>
            <p:ph sz="quarter" idx="18"/>
          </p:nvPr>
        </p:nvSpPr>
        <p:spPr>
          <a:xfrm>
            <a:off x="539750" y="982663"/>
            <a:ext cx="8208963" cy="430113"/>
          </a:xfrm>
        </p:spPr>
        <p:txBody>
          <a:bodyPr/>
          <a:lstStyle/>
          <a:p>
            <a:pPr marL="0" lvl="0" indent="0"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en-US" dirty="0" smtClean="0">
                <a:solidFill>
                  <a:srgbClr val="E60019"/>
                </a:solidFill>
              </a:rPr>
              <a:t>Example</a:t>
            </a:r>
            <a:endParaRPr lang="en-US" dirty="0">
              <a:solidFill>
                <a:srgbClr val="5F5F5F"/>
              </a:solidFill>
            </a:endParaRP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1908175" y="92075"/>
            <a:ext cx="4824413" cy="576263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Code Refactoring</a:t>
            </a:r>
            <a:endParaRPr lang="fr-FR" dirty="0"/>
          </a:p>
        </p:txBody>
      </p:sp>
      <p:grpSp>
        <p:nvGrpSpPr>
          <p:cNvPr id="10" name="Groupe 9"/>
          <p:cNvGrpSpPr/>
          <p:nvPr/>
        </p:nvGrpSpPr>
        <p:grpSpPr>
          <a:xfrm>
            <a:off x="-17470" y="2148126"/>
            <a:ext cx="9178940" cy="632802"/>
            <a:chOff x="-17470" y="1487875"/>
            <a:chExt cx="9178940" cy="632802"/>
          </a:xfrm>
        </p:grpSpPr>
        <p:sp>
          <p:nvSpPr>
            <p:cNvPr id="4" name="ZoneTexte 3"/>
            <p:cNvSpPr txBox="1"/>
            <p:nvPr/>
          </p:nvSpPr>
          <p:spPr>
            <a:xfrm>
              <a:off x="1670317" y="1487875"/>
              <a:ext cx="7491153" cy="6328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07000"/>
                </a:lnSpc>
                <a:spcAft>
                  <a:spcPts val="0"/>
                </a:spcAft>
              </a:pPr>
              <a:r>
                <a:rPr lang="en-US" sz="1100" dirty="0">
                  <a:solidFill>
                    <a:srgbClr val="8000FF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static</a:t>
              </a:r>
              <a:r>
                <a:rPr lang="en-US" sz="1100" dirty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100" dirty="0" err="1">
                  <a:solidFill>
                    <a:srgbClr val="8000FF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int</a:t>
              </a:r>
              <a:r>
                <a:rPr lang="en-US" sz="1100" dirty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100" dirty="0" err="1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UMLRTObject_fprintf_UMLRTCapsuleId</a:t>
              </a:r>
              <a:r>
                <a:rPr lang="en-US" sz="1100" b="1" dirty="0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(...)</a:t>
              </a:r>
              <a:r>
                <a:rPr lang="fr-FR" sz="1100" dirty="0" smtClean="0">
                  <a:highlight>
                    <a:srgbClr val="FFFFFF"/>
                  </a:highlight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100" b="1" dirty="0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{...}</a:t>
              </a:r>
              <a:endParaRPr lang="fr-FR" sz="1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>
                <a:lnSpc>
                  <a:spcPct val="107000"/>
                </a:lnSpc>
                <a:spcAft>
                  <a:spcPts val="0"/>
                </a:spcAft>
              </a:pPr>
              <a:r>
                <a:rPr lang="en-US" sz="1100" dirty="0" smtClean="0">
                  <a:solidFill>
                    <a:srgbClr val="8000FF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static</a:t>
              </a:r>
              <a:r>
                <a:rPr lang="en-US" sz="1100" dirty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100" dirty="0" err="1">
                  <a:solidFill>
                    <a:srgbClr val="8000FF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const</a:t>
              </a:r>
              <a:r>
                <a:rPr lang="en-US" sz="1100" dirty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100" dirty="0" err="1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UMLRTObject_class</a:t>
              </a:r>
              <a:r>
                <a:rPr lang="en-US" sz="1100" dirty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100" dirty="0" err="1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UMLRTType_UMLRTCapsuleId</a:t>
              </a:r>
              <a:r>
                <a:rPr lang="en-US" sz="1100" dirty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_ </a:t>
              </a:r>
              <a:r>
                <a:rPr lang="en-US" sz="1100" b="1" dirty="0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=</a:t>
              </a:r>
              <a:r>
                <a:rPr lang="en-US" sz="1100" dirty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100" b="1" dirty="0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{...};</a:t>
              </a:r>
              <a:endParaRPr lang="fr-FR" sz="1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100" dirty="0" err="1">
                  <a:solidFill>
                    <a:srgbClr val="8000FF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const</a:t>
              </a:r>
              <a:r>
                <a:rPr lang="en-US" sz="1100" dirty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100" dirty="0" err="1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UMLRTObject_class</a:t>
              </a:r>
              <a:r>
                <a:rPr lang="en-US" sz="1100" dirty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100" b="1" dirty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*</a:t>
              </a:r>
              <a:r>
                <a:rPr lang="en-US" sz="1100" dirty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100" dirty="0" err="1">
                  <a:solidFill>
                    <a:srgbClr val="8000FF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const</a:t>
              </a:r>
              <a:r>
                <a:rPr lang="en-US" sz="1100" dirty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100" dirty="0" err="1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UMLRTType_UMLRTCapsuleId</a:t>
              </a:r>
              <a:r>
                <a:rPr lang="en-US" sz="1100" dirty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100" b="1" dirty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=</a:t>
              </a:r>
              <a:r>
                <a:rPr lang="en-US" sz="1100" dirty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100" b="1" dirty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&amp;</a:t>
              </a:r>
              <a:r>
                <a:rPr lang="en-US" sz="1100" dirty="0" err="1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UMLRTType_UMLRTCapsuleId</a:t>
              </a:r>
              <a:r>
                <a:rPr lang="en-US" sz="1100" dirty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_</a:t>
              </a:r>
              <a:r>
                <a:rPr lang="en-US" sz="1100" b="1" dirty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;</a:t>
              </a:r>
              <a:endParaRPr lang="fr-FR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ZoneTexte 5"/>
            <p:cNvSpPr txBox="1"/>
            <p:nvPr/>
          </p:nvSpPr>
          <p:spPr>
            <a:xfrm>
              <a:off x="-17470" y="1665776"/>
              <a:ext cx="167225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b="1" dirty="0" smtClean="0"/>
                <a:t>UMLRTCapsuleId.cc</a:t>
              </a:r>
              <a:endParaRPr lang="fr-FR" sz="1200" b="1" dirty="0"/>
            </a:p>
          </p:txBody>
        </p:sp>
      </p:grpSp>
      <p:grpSp>
        <p:nvGrpSpPr>
          <p:cNvPr id="9" name="Groupe 8"/>
          <p:cNvGrpSpPr/>
          <p:nvPr/>
        </p:nvGrpSpPr>
        <p:grpSpPr>
          <a:xfrm>
            <a:off x="-17470" y="1556792"/>
            <a:ext cx="7309839" cy="282349"/>
            <a:chOff x="-17470" y="2257100"/>
            <a:chExt cx="7309839" cy="282349"/>
          </a:xfrm>
        </p:grpSpPr>
        <p:sp>
          <p:nvSpPr>
            <p:cNvPr id="3" name="ZoneTexte 2"/>
            <p:cNvSpPr txBox="1"/>
            <p:nvPr/>
          </p:nvSpPr>
          <p:spPr>
            <a:xfrm>
              <a:off x="1670317" y="2277839"/>
              <a:ext cx="562205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 smtClean="0">
                  <a:solidFill>
                    <a:srgbClr val="8000FF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extern </a:t>
              </a:r>
              <a:r>
                <a:rPr lang="en-US" sz="1100" dirty="0" err="1" smtClean="0">
                  <a:solidFill>
                    <a:srgbClr val="8000FF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const</a:t>
              </a:r>
              <a:r>
                <a:rPr lang="en-US" sz="1100" dirty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100" dirty="0" err="1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UMLRTObject_class</a:t>
              </a:r>
              <a:r>
                <a:rPr lang="en-US" sz="1100" dirty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100" b="1" dirty="0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*</a:t>
              </a:r>
              <a:r>
                <a:rPr lang="en-US" sz="1100" dirty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100" dirty="0" err="1" smtClean="0">
                  <a:solidFill>
                    <a:srgbClr val="8000FF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const</a:t>
              </a:r>
              <a:r>
                <a:rPr lang="en-US" sz="1100" dirty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100" dirty="0" err="1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UMLRTType_UMLRTCapsuleId</a:t>
              </a:r>
              <a:r>
                <a:rPr lang="en-US" sz="1100" b="1" dirty="0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;</a:t>
              </a:r>
              <a:endParaRPr lang="fr-FR" sz="1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ZoneTexte 7"/>
            <p:cNvSpPr txBox="1"/>
            <p:nvPr/>
          </p:nvSpPr>
          <p:spPr>
            <a:xfrm>
              <a:off x="-17470" y="2257100"/>
              <a:ext cx="169148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b="1" dirty="0" err="1" smtClean="0"/>
                <a:t>UMLRTCapsuleId.hh</a:t>
              </a:r>
              <a:endParaRPr lang="fr-FR" sz="1200" b="1" dirty="0"/>
            </a:p>
          </p:txBody>
        </p:sp>
      </p:grpSp>
      <p:grpSp>
        <p:nvGrpSpPr>
          <p:cNvPr id="17" name="Groupe 16"/>
          <p:cNvGrpSpPr/>
          <p:nvPr/>
        </p:nvGrpSpPr>
        <p:grpSpPr>
          <a:xfrm>
            <a:off x="-11715" y="3789040"/>
            <a:ext cx="8227414" cy="1632178"/>
            <a:chOff x="-11715" y="3501008"/>
            <a:chExt cx="8227414" cy="1632178"/>
          </a:xfrm>
        </p:grpSpPr>
        <p:sp>
          <p:nvSpPr>
            <p:cNvPr id="11" name="ZoneTexte 10"/>
            <p:cNvSpPr txBox="1"/>
            <p:nvPr/>
          </p:nvSpPr>
          <p:spPr>
            <a:xfrm>
              <a:off x="1670317" y="3501008"/>
              <a:ext cx="6545382" cy="16321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07000"/>
                </a:lnSpc>
                <a:spcAft>
                  <a:spcPts val="0"/>
                </a:spcAft>
              </a:pPr>
              <a:r>
                <a:rPr lang="en-US" sz="1100" dirty="0" smtClean="0">
                  <a:solidFill>
                    <a:srgbClr val="8000FF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class</a:t>
              </a:r>
              <a:r>
                <a:rPr lang="en-US" sz="1100" dirty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100" dirty="0" err="1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UMLRTCapsuleId</a:t>
              </a:r>
              <a:r>
                <a:rPr lang="en-US" sz="1100" dirty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100" b="1" dirty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{</a:t>
              </a:r>
              <a:endParaRPr lang="fr-FR" sz="1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>
                <a:lnSpc>
                  <a:spcPct val="107000"/>
                </a:lnSpc>
                <a:spcAft>
                  <a:spcPts val="0"/>
                </a:spcAft>
              </a:pPr>
              <a:r>
                <a:rPr lang="en-US" sz="1100" dirty="0">
                  <a:solidFill>
                    <a:srgbClr val="8000FF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public</a:t>
              </a:r>
              <a:r>
                <a:rPr lang="en-US" sz="1100" b="1" dirty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:</a:t>
              </a:r>
              <a:endParaRPr lang="fr-FR" sz="1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>
                <a:lnSpc>
                  <a:spcPct val="107000"/>
                </a:lnSpc>
                <a:spcAft>
                  <a:spcPts val="0"/>
                </a:spcAft>
              </a:pPr>
              <a:r>
                <a:rPr lang="en-US" sz="1100" dirty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	</a:t>
              </a:r>
              <a:r>
                <a:rPr lang="en-US" sz="1100" dirty="0">
                  <a:solidFill>
                    <a:srgbClr val="8000FF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static</a:t>
              </a:r>
              <a:r>
                <a:rPr lang="en-US" sz="1100" dirty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100" dirty="0" err="1">
                  <a:solidFill>
                    <a:srgbClr val="8000FF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const</a:t>
              </a:r>
              <a:r>
                <a:rPr lang="en-US" sz="1100" dirty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100" dirty="0" err="1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UMLRTObject_class</a:t>
              </a:r>
              <a:r>
                <a:rPr lang="en-US" sz="1100" b="1" dirty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*</a:t>
              </a:r>
              <a:r>
                <a:rPr lang="en-US" sz="1100" dirty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100" dirty="0" err="1">
                  <a:solidFill>
                    <a:srgbClr val="8000FF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const</a:t>
              </a:r>
              <a:r>
                <a:rPr lang="en-US" sz="1100" dirty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100" dirty="0" err="1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UMLRTType_UMLRTCapsuleId</a:t>
              </a:r>
              <a:r>
                <a:rPr lang="en-US" sz="1100" b="1" dirty="0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;</a:t>
              </a:r>
              <a:r>
                <a:rPr lang="en-US" sz="1100" dirty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  <a:endParaRPr lang="fr-FR" sz="1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>
                <a:lnSpc>
                  <a:spcPct val="107000"/>
                </a:lnSpc>
                <a:spcAft>
                  <a:spcPts val="0"/>
                </a:spcAft>
              </a:pPr>
              <a:r>
                <a:rPr lang="en-US" sz="1100" dirty="0">
                  <a:solidFill>
                    <a:srgbClr val="8000FF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private</a:t>
              </a:r>
              <a:r>
                <a:rPr lang="en-US" sz="1100" b="1" dirty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:</a:t>
              </a:r>
              <a:endParaRPr lang="fr-FR" sz="1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>
                <a:lnSpc>
                  <a:spcPct val="107000"/>
                </a:lnSpc>
                <a:spcAft>
                  <a:spcPts val="0"/>
                </a:spcAft>
              </a:pPr>
              <a:r>
                <a:rPr lang="en-US" sz="1100" dirty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	</a:t>
              </a:r>
              <a:r>
                <a:rPr lang="en-US" sz="1100" dirty="0">
                  <a:solidFill>
                    <a:srgbClr val="8000FF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static</a:t>
              </a:r>
              <a:r>
                <a:rPr lang="en-US" sz="1100" dirty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100" dirty="0" err="1">
                  <a:solidFill>
                    <a:srgbClr val="8000FF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const</a:t>
              </a:r>
              <a:r>
                <a:rPr lang="en-US" sz="1100" dirty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100" dirty="0" err="1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UMLRTObject_class</a:t>
              </a:r>
              <a:r>
                <a:rPr lang="en-US" sz="1100" dirty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100" dirty="0" err="1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UMLRTType_UMLRTCapsuleId</a:t>
              </a:r>
              <a:r>
                <a:rPr lang="en-US" sz="1100" dirty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_</a:t>
              </a:r>
              <a:r>
                <a:rPr lang="en-US" sz="1100" b="1" dirty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;</a:t>
              </a:r>
              <a:endParaRPr lang="fr-FR" sz="1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>
                <a:lnSpc>
                  <a:spcPct val="107000"/>
                </a:lnSpc>
                <a:spcAft>
                  <a:spcPts val="0"/>
                </a:spcAft>
              </a:pPr>
              <a:r>
                <a:rPr lang="en-US" sz="1100" dirty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  <a:r>
                <a:rPr lang="en-US" sz="1100" dirty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	</a:t>
              </a:r>
              <a:r>
                <a:rPr lang="en-US" sz="1100" dirty="0" smtClean="0">
                  <a:solidFill>
                    <a:srgbClr val="8000FF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static</a:t>
              </a:r>
              <a:r>
                <a:rPr lang="en-US" sz="1100" dirty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100" dirty="0" err="1" smtClean="0">
                  <a:solidFill>
                    <a:srgbClr val="8000FF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int</a:t>
              </a:r>
              <a:r>
                <a:rPr lang="en-US" sz="1100" dirty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100" dirty="0" err="1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UMLRTObject_fprintf_UMLRTCapsuleId</a:t>
              </a:r>
              <a:r>
                <a:rPr lang="en-US" sz="1100" b="1" dirty="0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(</a:t>
              </a:r>
              <a:r>
                <a:rPr lang="en-US" sz="1100" dirty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...</a:t>
              </a:r>
              <a:r>
                <a:rPr lang="en-US" sz="1100" b="1" dirty="0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);</a:t>
              </a:r>
              <a:endParaRPr lang="fr-FR" sz="1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fr-FR" sz="1100" b="1" dirty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};</a:t>
              </a:r>
              <a:endParaRPr lang="fr-FR" sz="1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endParaRPr lang="fr-FR" sz="1100" dirty="0"/>
            </a:p>
          </p:txBody>
        </p:sp>
        <p:sp>
          <p:nvSpPr>
            <p:cNvPr id="12" name="ZoneTexte 11"/>
            <p:cNvSpPr txBox="1"/>
            <p:nvPr/>
          </p:nvSpPr>
          <p:spPr>
            <a:xfrm>
              <a:off x="-11715" y="4178598"/>
              <a:ext cx="159691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b="1" dirty="0" err="1" smtClean="0"/>
                <a:t>UMLRTCapsuleId.h</a:t>
              </a:r>
              <a:endParaRPr lang="fr-FR" sz="1200" b="1" dirty="0"/>
            </a:p>
          </p:txBody>
        </p:sp>
      </p:grpSp>
      <p:sp>
        <p:nvSpPr>
          <p:cNvPr id="13" name="Flèche vers le bas 12"/>
          <p:cNvSpPr/>
          <p:nvPr/>
        </p:nvSpPr>
        <p:spPr>
          <a:xfrm>
            <a:off x="3528293" y="2996952"/>
            <a:ext cx="1584176" cy="560794"/>
          </a:xfrm>
          <a:prstGeom prst="downArrow">
            <a:avLst/>
          </a:prstGeom>
          <a:solidFill>
            <a:srgbClr val="C6F3FC"/>
          </a:solidFill>
          <a:ln w="158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8" name="Groupe 17"/>
          <p:cNvGrpSpPr/>
          <p:nvPr/>
        </p:nvGrpSpPr>
        <p:grpSpPr>
          <a:xfrm>
            <a:off x="-59950" y="5348414"/>
            <a:ext cx="9256135" cy="816890"/>
            <a:chOff x="-59950" y="5402331"/>
            <a:chExt cx="9256135" cy="816890"/>
          </a:xfrm>
        </p:grpSpPr>
        <p:sp>
          <p:nvSpPr>
            <p:cNvPr id="14" name="ZoneTexte 13"/>
            <p:cNvSpPr txBox="1"/>
            <p:nvPr/>
          </p:nvSpPr>
          <p:spPr>
            <a:xfrm>
              <a:off x="1664956" y="5402331"/>
              <a:ext cx="7531229" cy="8168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07000"/>
                </a:lnSpc>
                <a:spcAft>
                  <a:spcPts val="0"/>
                </a:spcAft>
              </a:pPr>
              <a:r>
                <a:rPr lang="en-US" sz="1100" dirty="0" err="1" smtClean="0">
                  <a:solidFill>
                    <a:srgbClr val="8000FF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const</a:t>
              </a:r>
              <a:r>
                <a:rPr lang="en-US" sz="1100" dirty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100" dirty="0" err="1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UMLRTObject_class</a:t>
              </a:r>
              <a:r>
                <a:rPr lang="en-US" sz="1100" dirty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100" dirty="0" err="1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UMLRTCapsuleId</a:t>
              </a:r>
              <a:r>
                <a:rPr lang="en-US" sz="1100" b="1" dirty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::</a:t>
              </a:r>
              <a:r>
                <a:rPr lang="en-US" sz="1100" dirty="0" err="1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UMLRTType_UMLRTCapsuleId</a:t>
              </a:r>
              <a:r>
                <a:rPr lang="en-US" sz="1100" dirty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_ </a:t>
              </a:r>
              <a:r>
                <a:rPr lang="en-US" sz="1100" b="1" dirty="0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{...};</a:t>
              </a:r>
              <a:endParaRPr lang="fr-FR" sz="1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>
                <a:lnSpc>
                  <a:spcPct val="107000"/>
                </a:lnSpc>
                <a:spcAft>
                  <a:spcPts val="0"/>
                </a:spcAft>
              </a:pPr>
              <a:r>
                <a:rPr lang="en-US" sz="1100" dirty="0" err="1" smtClean="0">
                  <a:solidFill>
                    <a:srgbClr val="8000FF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int</a:t>
              </a:r>
              <a:r>
                <a:rPr lang="en-US" sz="1100" dirty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100" dirty="0" err="1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UMLRTCapsuleId</a:t>
              </a:r>
              <a:r>
                <a:rPr lang="en-US" sz="1100" b="1" dirty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::</a:t>
              </a:r>
              <a:r>
                <a:rPr lang="en-US" sz="1100" dirty="0" err="1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UMLRTObject_fprintf_UMLRTCapsuleId</a:t>
              </a:r>
              <a:r>
                <a:rPr lang="en-US" sz="1100" b="1" dirty="0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(</a:t>
              </a:r>
              <a:r>
                <a:rPr lang="fr-FR" sz="1100" dirty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...</a:t>
              </a:r>
              <a:r>
                <a:rPr lang="en-US" sz="1100" b="1" dirty="0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)</a:t>
              </a:r>
              <a:r>
                <a:rPr lang="en-US" sz="1100" dirty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100" b="1" dirty="0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{...}</a:t>
              </a:r>
            </a:p>
            <a:p>
              <a:pPr>
                <a:lnSpc>
                  <a:spcPct val="107000"/>
                </a:lnSpc>
                <a:spcAft>
                  <a:spcPts val="0"/>
                </a:spcAft>
              </a:pPr>
              <a:r>
                <a:rPr lang="en-US" sz="1100" dirty="0" err="1">
                  <a:solidFill>
                    <a:srgbClr val="8000FF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const</a:t>
              </a:r>
              <a:r>
                <a:rPr lang="en-US" sz="1100" dirty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100" dirty="0" err="1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UMLRTObject_class</a:t>
              </a:r>
              <a:r>
                <a:rPr lang="en-US" sz="1100" b="1" dirty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*</a:t>
              </a:r>
              <a:r>
                <a:rPr lang="en-US" sz="1100" dirty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100" dirty="0" err="1">
                  <a:solidFill>
                    <a:srgbClr val="8000FF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const</a:t>
              </a:r>
              <a:r>
                <a:rPr lang="en-US" sz="1100" dirty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100" dirty="0" err="1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UMLRTCapsuleId</a:t>
              </a:r>
              <a:r>
                <a:rPr lang="en-US" sz="1100" b="1" dirty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::</a:t>
              </a:r>
              <a:r>
                <a:rPr lang="en-US" sz="1100" dirty="0" err="1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UMLRTType_UMLRTCapsuleId</a:t>
              </a:r>
              <a:r>
                <a:rPr lang="en-US" sz="1100" dirty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100" b="1" dirty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=</a:t>
              </a:r>
            </a:p>
            <a:p>
              <a:pPr>
                <a:lnSpc>
                  <a:spcPct val="107000"/>
                </a:lnSpc>
                <a:spcAft>
                  <a:spcPts val="0"/>
                </a:spcAft>
              </a:pPr>
              <a:r>
                <a:rPr lang="en-US" sz="1100" b="1" dirty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				&amp;</a:t>
              </a:r>
              <a:r>
                <a:rPr lang="en-US" sz="1100" dirty="0" err="1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UMLRTCapsuleId</a:t>
              </a:r>
              <a:r>
                <a:rPr lang="en-US" sz="1100" b="1" dirty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::</a:t>
              </a:r>
              <a:r>
                <a:rPr lang="en-US" sz="1100" dirty="0" err="1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UMLRTType_UMLRTCapsuleId</a:t>
              </a:r>
              <a:r>
                <a:rPr lang="en-US" sz="1100" dirty="0" smtClean="0">
                  <a:solidFill>
                    <a:srgbClr val="000000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_</a:t>
              </a:r>
              <a:r>
                <a:rPr lang="en-US" sz="1100" b="1" dirty="0" smtClean="0">
                  <a:solidFill>
                    <a:srgbClr val="000080"/>
                  </a:solidFill>
                  <a:highlight>
                    <a:srgbClr val="FFFFFF"/>
                  </a:highlight>
                  <a:latin typeface="Courier New" panose="020703090202050204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;</a:t>
              </a:r>
              <a:endParaRPr lang="fr-FR" sz="1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ZoneTexte 14"/>
            <p:cNvSpPr txBox="1"/>
            <p:nvPr/>
          </p:nvSpPr>
          <p:spPr>
            <a:xfrm>
              <a:off x="-59950" y="5672277"/>
              <a:ext cx="177644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b="1" dirty="0" smtClean="0"/>
                <a:t>UMLRTCapsuleId.cpp</a:t>
              </a:r>
              <a:endParaRPr lang="fr-FR" sz="1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949369117"/>
      </p:ext>
    </p:extLst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/>
          <p:cNvSpPr>
            <a:spLocks noGrp="1"/>
          </p:cNvSpPr>
          <p:nvPr>
            <p:ph sz="quarter" idx="18"/>
          </p:nvPr>
        </p:nvSpPr>
        <p:spPr>
          <a:xfrm>
            <a:off x="539750" y="982663"/>
            <a:ext cx="8208963" cy="4174529"/>
          </a:xfrm>
        </p:spPr>
        <p:txBody>
          <a:bodyPr/>
          <a:lstStyle/>
          <a:p>
            <a:pPr marL="0" lvl="0" indent="0"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en-US" dirty="0" smtClean="0">
                <a:solidFill>
                  <a:srgbClr val="E60019"/>
                </a:solidFill>
              </a:rPr>
              <a:t>Reverse results</a:t>
            </a:r>
            <a:endParaRPr lang="en-US" dirty="0">
              <a:solidFill>
                <a:srgbClr val="5F5F5F"/>
              </a:solidFill>
            </a:endParaRPr>
          </a:p>
          <a:p>
            <a:pPr marL="530100" lvl="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1800" dirty="0" smtClean="0">
                <a:solidFill>
                  <a:srgbClr val="323265"/>
                </a:solidFill>
              </a:rPr>
              <a:t>Automatically reversed UMLRT runtime C++ code to UML model</a:t>
            </a:r>
          </a:p>
          <a:p>
            <a:pPr marL="530100" lvl="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1800" dirty="0" smtClean="0">
                <a:solidFill>
                  <a:srgbClr val="323265"/>
                </a:solidFill>
              </a:rPr>
              <a:t>Some interesting automation features:</a:t>
            </a:r>
          </a:p>
          <a:p>
            <a:pPr marL="988888" lvl="1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600" dirty="0" smtClean="0">
                <a:solidFill>
                  <a:srgbClr val="323265"/>
                </a:solidFill>
              </a:rPr>
              <a:t>Associations, aggregations and compositions between classes are automatically created during reverse</a:t>
            </a:r>
          </a:p>
          <a:p>
            <a:pPr marL="988888" lvl="1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600" dirty="0" smtClean="0">
                <a:solidFill>
                  <a:srgbClr val="323265"/>
                </a:solidFill>
              </a:rPr>
              <a:t>Dependencies between classes are automatically created during reverse by analyzing the bodies of methods</a:t>
            </a:r>
          </a:p>
          <a:p>
            <a:pPr marL="988888" lvl="1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600" dirty="0" smtClean="0">
                <a:solidFill>
                  <a:srgbClr val="323265"/>
                </a:solidFill>
              </a:rPr>
              <a:t>Papyrus has synchronized diagrams to automatically show all classes in a package for </a:t>
            </a:r>
            <a:r>
              <a:rPr lang="en-US" sz="1600" dirty="0" smtClean="0">
                <a:solidFill>
                  <a:srgbClr val="323265"/>
                </a:solidFill>
              </a:rPr>
              <a:t>example</a:t>
            </a:r>
          </a:p>
          <a:p>
            <a:pPr marL="530100" lvl="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1800" dirty="0" smtClean="0">
                <a:solidFill>
                  <a:srgbClr val="323265"/>
                </a:solidFill>
              </a:rPr>
              <a:t>Manual validation still necessary as this is the initialization step in the proposed round-trip method…</a:t>
            </a:r>
          </a:p>
          <a:p>
            <a:pPr marL="530100" lvl="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1800" dirty="0" smtClean="0">
                <a:solidFill>
                  <a:srgbClr val="323265"/>
                </a:solidFill>
              </a:rPr>
              <a:t>…still 1/7 of the time necessary for a manual reverse (including checking that code generated from model compiles)</a:t>
            </a:r>
            <a:endParaRPr lang="en-US" sz="1800" dirty="0">
              <a:solidFill>
                <a:srgbClr val="323265"/>
              </a:solidFill>
            </a:endParaRP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1908175" y="92075"/>
            <a:ext cx="4824413" cy="576263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Round-trip Results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24441357"/>
      </p:ext>
    </p:extLst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/>
          <p:cNvSpPr>
            <a:spLocks noGrp="1"/>
          </p:cNvSpPr>
          <p:nvPr>
            <p:ph sz="quarter" idx="18"/>
          </p:nvPr>
        </p:nvSpPr>
        <p:spPr>
          <a:xfrm>
            <a:off x="539750" y="982663"/>
            <a:ext cx="8208963" cy="4174529"/>
          </a:xfrm>
        </p:spPr>
        <p:txBody>
          <a:bodyPr/>
          <a:lstStyle/>
          <a:p>
            <a:pPr marL="0" lvl="0" indent="0"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en-US" dirty="0" smtClean="0">
                <a:solidFill>
                  <a:srgbClr val="E60019"/>
                </a:solidFill>
              </a:rPr>
              <a:t>Code generation results</a:t>
            </a:r>
            <a:endParaRPr lang="en-US" dirty="0">
              <a:solidFill>
                <a:srgbClr val="5F5F5F"/>
              </a:solidFill>
            </a:endParaRPr>
          </a:p>
          <a:p>
            <a:pPr marL="530100" lvl="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1800" dirty="0" smtClean="0">
                <a:solidFill>
                  <a:srgbClr val="323265"/>
                </a:solidFill>
              </a:rPr>
              <a:t>Generated </a:t>
            </a:r>
            <a:r>
              <a:rPr lang="en-US" sz="1800" dirty="0" smtClean="0">
                <a:solidFill>
                  <a:srgbClr val="323265"/>
                </a:solidFill>
              </a:rPr>
              <a:t>code is conform to C++11</a:t>
            </a:r>
          </a:p>
          <a:p>
            <a:pPr marL="530100" lvl="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1800" dirty="0" smtClean="0">
                <a:solidFill>
                  <a:srgbClr val="323265"/>
                </a:solidFill>
              </a:rPr>
              <a:t>50</a:t>
            </a:r>
            <a:r>
              <a:rPr lang="en-US" sz="1800" dirty="0" smtClean="0">
                <a:solidFill>
                  <a:srgbClr val="323265"/>
                </a:solidFill>
              </a:rPr>
              <a:t>% of the classes </a:t>
            </a:r>
            <a:r>
              <a:rPr lang="en-US" sz="1800" dirty="0" smtClean="0">
                <a:solidFill>
                  <a:srgbClr val="323265"/>
                </a:solidFill>
              </a:rPr>
              <a:t>compile</a:t>
            </a:r>
          </a:p>
          <a:p>
            <a:pPr marL="530100" lvl="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1800" dirty="0" smtClean="0">
                <a:solidFill>
                  <a:srgbClr val="323265"/>
                </a:solidFill>
              </a:rPr>
              <a:t>Only </a:t>
            </a:r>
            <a:r>
              <a:rPr lang="en-US" sz="1800" dirty="0" smtClean="0">
                <a:solidFill>
                  <a:srgbClr val="323265"/>
                </a:solidFill>
              </a:rPr>
              <a:t>two kinds of compiling errors:</a:t>
            </a:r>
          </a:p>
          <a:p>
            <a:pPr marL="988888" lvl="1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600" dirty="0" smtClean="0">
                <a:solidFill>
                  <a:srgbClr val="323265"/>
                </a:solidFill>
              </a:rPr>
              <a:t>Missing dependency between two classes in the model because reverse couldn’t guess the dependency</a:t>
            </a:r>
          </a:p>
          <a:p>
            <a:pPr marL="988888" lvl="1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600" dirty="0" smtClean="0">
                <a:solidFill>
                  <a:srgbClr val="323265"/>
                </a:solidFill>
              </a:rPr>
              <a:t>E.g. </a:t>
            </a:r>
            <a:r>
              <a:rPr lang="en-US" sz="1600" dirty="0" err="1" smtClean="0">
                <a:solidFill>
                  <a:srgbClr val="32326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getCapsule</a:t>
            </a:r>
            <a:r>
              <a:rPr lang="en-US" sz="1600" dirty="0" smtClean="0">
                <a:solidFill>
                  <a:srgbClr val="32326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()-&gt;</a:t>
            </a:r>
            <a:r>
              <a:rPr lang="en-US" sz="1600" dirty="0" err="1" smtClean="0">
                <a:solidFill>
                  <a:srgbClr val="32326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getName</a:t>
            </a:r>
            <a:r>
              <a:rPr lang="en-US" sz="1600" dirty="0" smtClean="0">
                <a:solidFill>
                  <a:srgbClr val="32326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 marL="988888" lvl="1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600" dirty="0" smtClean="0">
                <a:solidFill>
                  <a:srgbClr val="323265"/>
                </a:solidFill>
              </a:rPr>
              <a:t>Different parameter name in method body and declaration because parameters in header and </a:t>
            </a:r>
            <a:r>
              <a:rPr lang="en-US" sz="1600" dirty="0" err="1" smtClean="0">
                <a:solidFill>
                  <a:srgbClr val="323265"/>
                </a:solidFill>
              </a:rPr>
              <a:t>cpp</a:t>
            </a:r>
            <a:r>
              <a:rPr lang="en-US" sz="1600" dirty="0" smtClean="0">
                <a:solidFill>
                  <a:srgbClr val="323265"/>
                </a:solidFill>
              </a:rPr>
              <a:t> files are not entirely consistent</a:t>
            </a:r>
          </a:p>
          <a:p>
            <a:pPr marL="988888" lvl="1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600" dirty="0" smtClean="0">
                <a:solidFill>
                  <a:srgbClr val="323265"/>
                </a:solidFill>
              </a:rPr>
              <a:t>E.g.</a:t>
            </a:r>
          </a:p>
          <a:p>
            <a:pPr marL="628525" lvl="1" indent="0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600" dirty="0" smtClean="0">
                <a:solidFill>
                  <a:srgbClr val="323265"/>
                </a:solidFill>
                <a:latin typeface="+mj-lt"/>
                <a:cs typeface="Consolas" panose="020B0609020204030204" pitchFamily="49" charset="0"/>
              </a:rPr>
              <a:t>Header: </a:t>
            </a:r>
            <a:r>
              <a:rPr lang="en-US" sz="1600" dirty="0" err="1" smtClean="0">
                <a:solidFill>
                  <a:srgbClr val="32326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SignalElementPutToPool</a:t>
            </a:r>
            <a:r>
              <a:rPr lang="en-US" sz="1600" dirty="0" smtClean="0">
                <a:solidFill>
                  <a:srgbClr val="32326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 dirty="0" err="1" smtClean="0">
                <a:solidFill>
                  <a:srgbClr val="32326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UMLRTSignalElement</a:t>
            </a:r>
            <a:r>
              <a:rPr lang="en-US" sz="1600" dirty="0">
                <a:solidFill>
                  <a:srgbClr val="32326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 </a:t>
            </a:r>
            <a:r>
              <a:rPr lang="en-US" sz="1600" dirty="0" smtClean="0">
                <a:solidFill>
                  <a:srgbClr val="32326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signal);</a:t>
            </a:r>
          </a:p>
          <a:p>
            <a:pPr marL="628525" lvl="1" indent="0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600" dirty="0" err="1" smtClean="0">
                <a:solidFill>
                  <a:srgbClr val="323265"/>
                </a:solidFill>
                <a:latin typeface="+mj-lt"/>
                <a:cs typeface="Consolas" panose="020B0609020204030204" pitchFamily="49" charset="0"/>
              </a:rPr>
              <a:t>Cpp</a:t>
            </a:r>
            <a:r>
              <a:rPr lang="en-US" sz="1600" dirty="0" smtClean="0">
                <a:solidFill>
                  <a:srgbClr val="323265"/>
                </a:solidFill>
                <a:latin typeface="+mj-lt"/>
                <a:cs typeface="Consolas" panose="020B0609020204030204" pitchFamily="49" charset="0"/>
              </a:rPr>
              <a:t>: </a:t>
            </a:r>
            <a:r>
              <a:rPr lang="en-US" sz="1600" dirty="0" err="1" smtClean="0">
                <a:solidFill>
                  <a:srgbClr val="32326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SignalElementPutToPool</a:t>
            </a:r>
            <a:r>
              <a:rPr lang="en-US" sz="1600" dirty="0" smtClean="0">
                <a:solidFill>
                  <a:srgbClr val="32326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 dirty="0" err="1" smtClean="0">
                <a:solidFill>
                  <a:srgbClr val="32326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UMLRTSignalElement</a:t>
            </a:r>
            <a:r>
              <a:rPr lang="en-US" sz="1600" dirty="0">
                <a:solidFill>
                  <a:srgbClr val="32326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 </a:t>
            </a:r>
            <a:r>
              <a:rPr lang="en-US" sz="1600" dirty="0" smtClean="0">
                <a:solidFill>
                  <a:srgbClr val="32326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element) {...}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1908175" y="92075"/>
            <a:ext cx="4824413" cy="576263"/>
          </a:xfrm>
        </p:spPr>
        <p:txBody>
          <a:bodyPr/>
          <a:lstStyle/>
          <a:p>
            <a:pPr>
              <a:defRPr/>
            </a:pPr>
            <a:r>
              <a:rPr lang="en-US" dirty="0"/>
              <a:t>Round-trip Results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06508831"/>
      </p:ext>
    </p:extLst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/>
          <p:cNvSpPr>
            <a:spLocks noGrp="1"/>
          </p:cNvSpPr>
          <p:nvPr>
            <p:ph sz="quarter" idx="18"/>
          </p:nvPr>
        </p:nvSpPr>
        <p:spPr>
          <a:xfrm>
            <a:off x="539750" y="982663"/>
            <a:ext cx="8208963" cy="5110633"/>
          </a:xfrm>
        </p:spPr>
        <p:txBody>
          <a:bodyPr/>
          <a:lstStyle/>
          <a:p>
            <a:pPr marL="0" lvl="0" indent="0"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en-US" dirty="0" smtClean="0">
                <a:solidFill>
                  <a:srgbClr val="E60019"/>
                </a:solidFill>
              </a:rPr>
              <a:t>Some links</a:t>
            </a:r>
            <a:endParaRPr lang="en-US" dirty="0">
              <a:solidFill>
                <a:srgbClr val="5F5F5F"/>
              </a:solidFill>
            </a:endParaRPr>
          </a:p>
          <a:p>
            <a:pPr marL="530100" lvl="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1800" dirty="0" smtClean="0">
                <a:solidFill>
                  <a:srgbClr val="323265"/>
                </a:solidFill>
              </a:rPr>
              <a:t>Update-site for Papyrus-Designer with the round-trip tools:</a:t>
            </a:r>
          </a:p>
          <a:p>
            <a:pPr marL="187200" lvl="0" indent="0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fr-FR" sz="1400" dirty="0">
                <a:hlinkClick r:id="rId2"/>
              </a:rPr>
              <a:t>https://</a:t>
            </a:r>
            <a:r>
              <a:rPr lang="fr-FR" sz="1400" dirty="0" smtClean="0">
                <a:hlinkClick r:id="rId2"/>
              </a:rPr>
              <a:t>hudson.eclipse.org/papyrus/view/Designer/job/papyrus-designer-neon-papyrusnightly/ws/releng/org.eclipse.papyrus.designer.p2/target/repository/index.html</a:t>
            </a:r>
            <a:endParaRPr lang="fr-FR" sz="1400" dirty="0" smtClean="0"/>
          </a:p>
          <a:p>
            <a:pPr marL="53010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1800" dirty="0" smtClean="0">
                <a:solidFill>
                  <a:srgbClr val="323265"/>
                </a:solidFill>
              </a:rPr>
              <a:t>Latest </a:t>
            </a:r>
            <a:r>
              <a:rPr lang="en-US" sz="1800" dirty="0" smtClean="0">
                <a:solidFill>
                  <a:srgbClr val="323265"/>
                </a:solidFill>
              </a:rPr>
              <a:t>UML model: </a:t>
            </a:r>
            <a:r>
              <a:rPr lang="en-US" sz="1800" dirty="0">
                <a:solidFill>
                  <a:srgbClr val="323265"/>
                </a:solidFill>
                <a:hlinkClick r:id="rId3"/>
              </a:rPr>
              <a:t>https://git.eclipse.org/r/#/c/65772</a:t>
            </a:r>
            <a:r>
              <a:rPr lang="en-US" sz="1800" dirty="0" smtClean="0">
                <a:solidFill>
                  <a:srgbClr val="323265"/>
                </a:solidFill>
                <a:hlinkClick r:id="rId3"/>
              </a:rPr>
              <a:t>/</a:t>
            </a:r>
            <a:endParaRPr lang="en-US" sz="1800" dirty="0" smtClean="0">
              <a:solidFill>
                <a:srgbClr val="323265"/>
              </a:solidFill>
            </a:endParaRPr>
          </a:p>
          <a:p>
            <a:pPr marL="53010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1800" dirty="0" smtClean="0">
                <a:solidFill>
                  <a:srgbClr val="323265"/>
                </a:solidFill>
              </a:rPr>
              <a:t>Refactoring of original UMLRT runtime and generated code will be pushed to </a:t>
            </a:r>
            <a:r>
              <a:rPr lang="en-US" sz="1800" dirty="0" err="1" smtClean="0">
                <a:solidFill>
                  <a:srgbClr val="323265"/>
                </a:solidFill>
              </a:rPr>
              <a:t>Gerrit</a:t>
            </a:r>
            <a:endParaRPr lang="en-US" sz="1800" dirty="0" smtClean="0">
              <a:solidFill>
                <a:srgbClr val="323265"/>
              </a:solidFill>
            </a:endParaRPr>
          </a:p>
          <a:p>
            <a:pPr marL="0" indent="0"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en-US" dirty="0" smtClean="0">
                <a:solidFill>
                  <a:srgbClr val="E60019"/>
                </a:solidFill>
              </a:rPr>
              <a:t>Future work</a:t>
            </a:r>
            <a:endParaRPr lang="en-US" dirty="0">
              <a:solidFill>
                <a:srgbClr val="5F5F5F"/>
              </a:solidFill>
            </a:endParaRPr>
          </a:p>
          <a:p>
            <a:pPr marL="530100" lvl="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1800" dirty="0" smtClean="0">
                <a:solidFill>
                  <a:srgbClr val="323265"/>
                </a:solidFill>
              </a:rPr>
              <a:t>Finish compiling and run tests</a:t>
            </a:r>
          </a:p>
          <a:p>
            <a:pPr marL="53010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1800" dirty="0" smtClean="0">
                <a:solidFill>
                  <a:srgbClr val="323265"/>
                </a:solidFill>
              </a:rPr>
              <a:t>Do a full round-trip of the generated code</a:t>
            </a:r>
            <a:endParaRPr lang="en-US" dirty="0" smtClean="0">
              <a:solidFill>
                <a:srgbClr val="E60019"/>
              </a:solidFill>
            </a:endParaRPr>
          </a:p>
          <a:p>
            <a:pPr marL="0" lvl="0" indent="0"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en-US" dirty="0" smtClean="0">
                <a:solidFill>
                  <a:srgbClr val="E60019"/>
                </a:solidFill>
              </a:rPr>
              <a:t>Future </a:t>
            </a:r>
            <a:r>
              <a:rPr lang="en-US" dirty="0" smtClean="0">
                <a:solidFill>
                  <a:srgbClr val="E60019"/>
                </a:solidFill>
              </a:rPr>
              <a:t>meetings</a:t>
            </a:r>
            <a:endParaRPr lang="en-US" dirty="0">
              <a:solidFill>
                <a:srgbClr val="5F5F5F"/>
              </a:solidFill>
            </a:endParaRPr>
          </a:p>
          <a:p>
            <a:pPr marL="530100" lvl="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1800" dirty="0" smtClean="0">
                <a:solidFill>
                  <a:srgbClr val="323265"/>
                </a:solidFill>
              </a:rPr>
              <a:t>Weekly meeting every Friday at 8am EST (2pm CET)</a:t>
            </a:r>
          </a:p>
          <a:p>
            <a:pPr marL="530100" lvl="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1800" dirty="0" smtClean="0">
                <a:solidFill>
                  <a:srgbClr val="323265"/>
                </a:solidFill>
              </a:rPr>
              <a:t>Are you interested in participating in these meetings? (Not necessarily every week)</a:t>
            </a:r>
            <a:endParaRPr lang="en-US" sz="1800" dirty="0">
              <a:solidFill>
                <a:srgbClr val="323265"/>
              </a:solidFill>
            </a:endParaRPr>
          </a:p>
          <a:p>
            <a:pPr marL="53010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endParaRPr lang="en-US" sz="1800" dirty="0" smtClean="0">
              <a:solidFill>
                <a:srgbClr val="323265"/>
              </a:solidFill>
            </a:endParaRP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1908175" y="92075"/>
            <a:ext cx="4824413" cy="576263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Conclusion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63622592"/>
      </p:ext>
    </p:extLst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EA_Tech_List">
  <a:themeElements>
    <a:clrScheme name="CEA Tech">
      <a:dk1>
        <a:sysClr val="windowText" lastClr="000000"/>
      </a:dk1>
      <a:lt1>
        <a:sysClr val="window" lastClr="FFFFFF"/>
      </a:lt1>
      <a:dk2>
        <a:srgbClr val="E60019"/>
      </a:dk2>
      <a:lt2>
        <a:srgbClr val="FFFFFF"/>
      </a:lt2>
      <a:accent1>
        <a:srgbClr val="E60019"/>
      </a:accent1>
      <a:accent2>
        <a:srgbClr val="91C30A"/>
      </a:accent2>
      <a:accent3>
        <a:srgbClr val="87000A"/>
      </a:accent3>
      <a:accent4>
        <a:srgbClr val="0A6E28"/>
      </a:accent4>
      <a:accent5>
        <a:srgbClr val="5F5F5F"/>
      </a:accent5>
      <a:accent6>
        <a:srgbClr val="5F5F5F"/>
      </a:accent6>
      <a:hlink>
        <a:srgbClr val="91C30A"/>
      </a:hlink>
      <a:folHlink>
        <a:srgbClr val="0A6E28"/>
      </a:folHlink>
    </a:clrScheme>
    <a:fontScheme name="CEA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CEA_Tech_List</Template>
  <TotalTime>12467</TotalTime>
  <Words>508</Words>
  <Application>Microsoft Office PowerPoint</Application>
  <PresentationFormat>Affichage à l'écran (4:3)</PresentationFormat>
  <Paragraphs>75</Paragraphs>
  <Slides>7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5" baseType="lpstr">
      <vt:lpstr>Arial</vt:lpstr>
      <vt:lpstr>Calibri</vt:lpstr>
      <vt:lpstr>Consolas</vt:lpstr>
      <vt:lpstr>Courier New</vt:lpstr>
      <vt:lpstr>Ravie</vt:lpstr>
      <vt:lpstr>Times New Roman</vt:lpstr>
      <vt:lpstr>Wingdings</vt:lpstr>
      <vt:lpstr>CEA_Tech_List</vt:lpstr>
      <vt:lpstr>Round-trip Engineering of UMLRT Runtime System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CEA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Retro-engineering of UML-RT runtime and Code Generation</dc:title>
  <dc:creator>shuai.li@cea.fr</dc:creator>
  <cp:lastModifiedBy>LI Shuai</cp:lastModifiedBy>
  <cp:revision>4284</cp:revision>
  <dcterms:created xsi:type="dcterms:W3CDTF">2013-02-01T10:51:35Z</dcterms:created>
  <dcterms:modified xsi:type="dcterms:W3CDTF">2016-02-24T13:02:40Z</dcterms:modified>
</cp:coreProperties>
</file>