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1" r:id="rId2"/>
    <p:sldId id="300" r:id="rId3"/>
    <p:sldId id="389" r:id="rId4"/>
    <p:sldId id="391" r:id="rId5"/>
    <p:sldId id="392" r:id="rId6"/>
    <p:sldId id="393" r:id="rId7"/>
    <p:sldId id="394" r:id="rId8"/>
    <p:sldId id="396" r:id="rId9"/>
    <p:sldId id="403" r:id="rId10"/>
    <p:sldId id="410" r:id="rId11"/>
    <p:sldId id="398" r:id="rId12"/>
    <p:sldId id="401" r:id="rId13"/>
    <p:sldId id="409" r:id="rId14"/>
    <p:sldId id="407" r:id="rId15"/>
    <p:sldId id="408" r:id="rId16"/>
    <p:sldId id="411" r:id="rId17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37" clrIdx="0"/>
  <p:cmAuthor id="1" name="RADERMACHER Ansgar 206501" initials="RA2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6F5"/>
    <a:srgbClr val="C6F3FC"/>
    <a:srgbClr val="1F497D"/>
    <a:srgbClr val="FF6600"/>
    <a:srgbClr val="FF3300"/>
    <a:srgbClr val="CC00CC"/>
    <a:srgbClr val="FF9900"/>
    <a:srgbClr val="E60019"/>
    <a:srgbClr val="FFBE49"/>
    <a:srgbClr val="FFE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5643" autoAdjust="0"/>
  </p:normalViewPr>
  <p:slideViewPr>
    <p:cSldViewPr>
      <p:cViewPr varScale="1">
        <p:scale>
          <a:sx n="111" d="100"/>
          <a:sy n="111" d="100"/>
        </p:scale>
        <p:origin x="23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5E777-E9E3-48C3-AE0A-AAB15A1CCF0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A81C4C2-0E6E-49AE-A529-6F63A5C76F43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Reverse code to model</a:t>
          </a:r>
          <a:endParaRPr lang="fr-FR" dirty="0"/>
        </a:p>
      </dgm:t>
    </dgm:pt>
    <dgm:pt modelId="{9482FAFF-2905-42D2-B846-84B83AB62137}" type="parTrans" cxnId="{FBBB3FDF-C89D-4188-BAF2-F03E769B7A57}">
      <dgm:prSet/>
      <dgm:spPr/>
      <dgm:t>
        <a:bodyPr/>
        <a:lstStyle/>
        <a:p>
          <a:endParaRPr lang="fr-FR"/>
        </a:p>
      </dgm:t>
    </dgm:pt>
    <dgm:pt modelId="{D49119DE-D277-4CF6-9977-D8F7FBD61B1B}" type="sibTrans" cxnId="{FBBB3FDF-C89D-4188-BAF2-F03E769B7A57}">
      <dgm:prSet/>
      <dgm:spPr/>
      <dgm:t>
        <a:bodyPr/>
        <a:lstStyle/>
        <a:p>
          <a:endParaRPr lang="fr-FR"/>
        </a:p>
      </dgm:t>
    </dgm:pt>
    <dgm:pt modelId="{55C52B21-4B7C-4D04-B33E-DE6135BCFCCB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 smtClean="0"/>
            <a:t>Define</a:t>
          </a:r>
          <a:r>
            <a:rPr lang="fr-FR" dirty="0" smtClean="0"/>
            <a:t> architecture</a:t>
          </a:r>
          <a:endParaRPr lang="fr-FR" dirty="0"/>
        </a:p>
      </dgm:t>
    </dgm:pt>
    <dgm:pt modelId="{FC4154E1-2567-4B5E-B588-D6C8EAA91386}" type="parTrans" cxnId="{5522A25A-C796-4808-8EFC-1BC787F2A204}">
      <dgm:prSet/>
      <dgm:spPr/>
      <dgm:t>
        <a:bodyPr/>
        <a:lstStyle/>
        <a:p>
          <a:endParaRPr lang="fr-FR"/>
        </a:p>
      </dgm:t>
    </dgm:pt>
    <dgm:pt modelId="{52030286-5DFF-4825-9637-1F4BE223CB90}" type="sibTrans" cxnId="{5522A25A-C796-4808-8EFC-1BC787F2A204}">
      <dgm:prSet/>
      <dgm:spPr/>
      <dgm:t>
        <a:bodyPr/>
        <a:lstStyle/>
        <a:p>
          <a:endParaRPr lang="fr-FR"/>
        </a:p>
      </dgm:t>
    </dgm:pt>
    <dgm:pt modelId="{FC03BAE9-ADC5-4166-873A-9BE1D5CC2E6D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smtClean="0"/>
            <a:t>Model C/C++ </a:t>
          </a:r>
          <a:r>
            <a:rPr lang="fr-FR" dirty="0" err="1" smtClean="0"/>
            <a:t>features</a:t>
          </a:r>
          <a:endParaRPr lang="fr-FR" dirty="0"/>
        </a:p>
      </dgm:t>
    </dgm:pt>
    <dgm:pt modelId="{B162DB76-25DC-4E97-A1EC-15268F6DD27C}" type="parTrans" cxnId="{B208F43E-E83F-4EBA-BD4B-74DB1DC3F096}">
      <dgm:prSet/>
      <dgm:spPr/>
      <dgm:t>
        <a:bodyPr/>
        <a:lstStyle/>
        <a:p>
          <a:endParaRPr lang="fr-FR"/>
        </a:p>
      </dgm:t>
    </dgm:pt>
    <dgm:pt modelId="{A375F0A3-20C9-4834-9C39-846D00E23BDE}" type="sibTrans" cxnId="{B208F43E-E83F-4EBA-BD4B-74DB1DC3F096}">
      <dgm:prSet/>
      <dgm:spPr/>
      <dgm:t>
        <a:bodyPr/>
        <a:lstStyle/>
        <a:p>
          <a:endParaRPr lang="fr-FR"/>
        </a:p>
      </dgm:t>
    </dgm:pt>
    <dgm:pt modelId="{51B70F88-6A89-435A-AA41-399F871A034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 smtClean="0"/>
            <a:t>Graphical</a:t>
          </a:r>
          <a:r>
            <a:rPr lang="fr-FR" dirty="0" smtClean="0"/>
            <a:t> </a:t>
          </a:r>
          <a:r>
            <a:rPr lang="fr-FR" dirty="0" err="1" smtClean="0"/>
            <a:t>diagrams</a:t>
          </a:r>
          <a:endParaRPr lang="fr-FR" dirty="0"/>
        </a:p>
      </dgm:t>
    </dgm:pt>
    <dgm:pt modelId="{C39CBD9B-C06E-4245-AAFB-B5B389D293EE}" type="parTrans" cxnId="{7F0887F0-E161-4963-9CBC-0CC8792450E0}">
      <dgm:prSet/>
      <dgm:spPr/>
      <dgm:t>
        <a:bodyPr/>
        <a:lstStyle/>
        <a:p>
          <a:endParaRPr lang="fr-FR"/>
        </a:p>
      </dgm:t>
    </dgm:pt>
    <dgm:pt modelId="{5B908CDD-E727-4FB9-B8E9-833BEA6BFB65}" type="sibTrans" cxnId="{7F0887F0-E161-4963-9CBC-0CC8792450E0}">
      <dgm:prSet/>
      <dgm:spPr/>
      <dgm:t>
        <a:bodyPr/>
        <a:lstStyle/>
        <a:p>
          <a:endParaRPr lang="fr-FR"/>
        </a:p>
      </dgm:t>
    </dgm:pt>
    <dgm:pt modelId="{431E881D-FD2F-432D-ADEA-094912B656F4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err="1" smtClean="0"/>
            <a:t>Modify</a:t>
          </a:r>
          <a:r>
            <a:rPr lang="fr-FR" dirty="0" smtClean="0"/>
            <a:t> code </a:t>
          </a:r>
          <a:r>
            <a:rPr lang="fr-FR" dirty="0" err="1" smtClean="0"/>
            <a:t>generation</a:t>
          </a:r>
          <a:r>
            <a:rPr lang="fr-FR" dirty="0" smtClean="0"/>
            <a:t> </a:t>
          </a:r>
          <a:r>
            <a:rPr lang="fr-FR" dirty="0" err="1" smtClean="0"/>
            <a:t>framework</a:t>
          </a:r>
          <a:endParaRPr lang="fr-FR" dirty="0"/>
        </a:p>
      </dgm:t>
    </dgm:pt>
    <dgm:pt modelId="{14D3A696-2AF1-484C-9D5C-8BE8FDEAF6FB}" type="parTrans" cxnId="{32913779-C377-48C8-899D-BD0BBAF9352E}">
      <dgm:prSet/>
      <dgm:spPr/>
      <dgm:t>
        <a:bodyPr/>
        <a:lstStyle/>
        <a:p>
          <a:endParaRPr lang="fr-FR"/>
        </a:p>
      </dgm:t>
    </dgm:pt>
    <dgm:pt modelId="{1BC6BCFF-3005-4676-BAC7-6AAAE564B534}" type="sibTrans" cxnId="{32913779-C377-48C8-899D-BD0BBAF9352E}">
      <dgm:prSet/>
      <dgm:spPr/>
      <dgm:t>
        <a:bodyPr/>
        <a:lstStyle/>
        <a:p>
          <a:endParaRPr lang="fr-FR"/>
        </a:p>
      </dgm:t>
    </dgm:pt>
    <dgm:pt modelId="{F993E8B1-5CC5-4E40-A558-906BE8FDB31C}">
      <dgm:prSet phldrT="[Texte]"/>
      <dgm:spPr>
        <a:solidFill>
          <a:srgbClr val="FF9933"/>
        </a:solidFill>
      </dgm:spPr>
      <dgm:t>
        <a:bodyPr/>
        <a:lstStyle/>
        <a:p>
          <a:r>
            <a:rPr lang="fr-FR" dirty="0" smtClean="0"/>
            <a:t>Compile and </a:t>
          </a:r>
          <a:r>
            <a:rPr lang="fr-FR" dirty="0" err="1" smtClean="0"/>
            <a:t>debug</a:t>
          </a:r>
          <a:endParaRPr lang="fr-FR" dirty="0"/>
        </a:p>
      </dgm:t>
    </dgm:pt>
    <dgm:pt modelId="{4080B47C-66CC-4B6E-88CC-04E9AF221E09}" type="parTrans" cxnId="{5B768A43-A0F4-43D6-9F80-220CEDFCA762}">
      <dgm:prSet/>
      <dgm:spPr/>
      <dgm:t>
        <a:bodyPr/>
        <a:lstStyle/>
        <a:p>
          <a:endParaRPr lang="fr-FR"/>
        </a:p>
      </dgm:t>
    </dgm:pt>
    <dgm:pt modelId="{AC43B8AC-EE22-4AB8-8E32-40BDE2326444}" type="sibTrans" cxnId="{5B768A43-A0F4-43D6-9F80-220CEDFCA762}">
      <dgm:prSet/>
      <dgm:spPr/>
      <dgm:t>
        <a:bodyPr/>
        <a:lstStyle/>
        <a:p>
          <a:endParaRPr lang="fr-FR"/>
        </a:p>
      </dgm:t>
    </dgm:pt>
    <dgm:pt modelId="{12C24871-AE18-41CD-9A1C-854252416226}">
      <dgm:prSet phldrT="[Texte]"/>
      <dgm:spPr/>
      <dgm:t>
        <a:bodyPr/>
        <a:lstStyle/>
        <a:p>
          <a:r>
            <a:rPr lang="fr-FR" dirty="0" smtClean="0"/>
            <a:t>Doc on </a:t>
          </a:r>
          <a:r>
            <a:rPr lang="fr-FR" dirty="0" err="1" smtClean="0"/>
            <a:t>modeling</a:t>
          </a:r>
          <a:r>
            <a:rPr lang="fr-FR" dirty="0" smtClean="0"/>
            <a:t> </a:t>
          </a:r>
          <a:r>
            <a:rPr lang="fr-FR" dirty="0" err="1" smtClean="0"/>
            <a:t>method</a:t>
          </a:r>
          <a:r>
            <a:rPr lang="fr-FR" dirty="0" smtClean="0"/>
            <a:t> and </a:t>
          </a:r>
          <a:r>
            <a:rPr lang="fr-FR" dirty="0" err="1" smtClean="0"/>
            <a:t>rules</a:t>
          </a:r>
          <a:endParaRPr lang="fr-FR" dirty="0"/>
        </a:p>
      </dgm:t>
    </dgm:pt>
    <dgm:pt modelId="{5C96B9A6-7998-4E7A-8A40-45821077AD9F}" type="parTrans" cxnId="{379369FB-42D6-4D1F-A629-90CD967DCDC5}">
      <dgm:prSet/>
      <dgm:spPr/>
      <dgm:t>
        <a:bodyPr/>
        <a:lstStyle/>
        <a:p>
          <a:endParaRPr lang="fr-FR"/>
        </a:p>
      </dgm:t>
    </dgm:pt>
    <dgm:pt modelId="{96F4101A-EF76-4242-9A76-854CAD4335B7}" type="sibTrans" cxnId="{379369FB-42D6-4D1F-A629-90CD967DCDC5}">
      <dgm:prSet/>
      <dgm:spPr/>
      <dgm:t>
        <a:bodyPr/>
        <a:lstStyle/>
        <a:p>
          <a:endParaRPr lang="fr-FR"/>
        </a:p>
      </dgm:t>
    </dgm:pt>
    <dgm:pt modelId="{7EF0A174-EF57-4B71-A15C-970A068A58BB}">
      <dgm:prSet phldrT="[Texte]"/>
      <dgm:spPr/>
      <dgm:t>
        <a:bodyPr/>
        <a:lstStyle/>
        <a:p>
          <a:r>
            <a:rPr lang="fr-FR" dirty="0" smtClean="0"/>
            <a:t>Share stable version</a:t>
          </a:r>
          <a:endParaRPr lang="fr-FR" dirty="0"/>
        </a:p>
      </dgm:t>
    </dgm:pt>
    <dgm:pt modelId="{BC746F36-BC0D-41A3-9475-C82194166728}" type="parTrans" cxnId="{C81747AC-D121-4ECA-80DA-AF61DDE8BB81}">
      <dgm:prSet/>
      <dgm:spPr/>
      <dgm:t>
        <a:bodyPr/>
        <a:lstStyle/>
        <a:p>
          <a:endParaRPr lang="fr-FR"/>
        </a:p>
      </dgm:t>
    </dgm:pt>
    <dgm:pt modelId="{FC6F8BFB-D3D5-41B2-9E29-A94C55C8A5CE}" type="sibTrans" cxnId="{C81747AC-D121-4ECA-80DA-AF61DDE8BB81}">
      <dgm:prSet/>
      <dgm:spPr/>
      <dgm:t>
        <a:bodyPr/>
        <a:lstStyle/>
        <a:p>
          <a:endParaRPr lang="fr-FR"/>
        </a:p>
      </dgm:t>
    </dgm:pt>
    <dgm:pt modelId="{6E014CDF-CE16-4F94-A778-32693B103E4A}">
      <dgm:prSet phldrT="[Texte]"/>
      <dgm:spPr/>
      <dgm:t>
        <a:bodyPr/>
        <a:lstStyle/>
        <a:p>
          <a:r>
            <a:rPr lang="fr-FR" dirty="0" err="1" smtClean="0"/>
            <a:t>Execution</a:t>
          </a:r>
          <a:r>
            <a:rPr lang="fr-FR" dirty="0" smtClean="0"/>
            <a:t> and </a:t>
          </a:r>
          <a:r>
            <a:rPr lang="fr-FR" dirty="0" err="1" smtClean="0"/>
            <a:t>diff</a:t>
          </a:r>
          <a:endParaRPr lang="fr-FR" dirty="0"/>
        </a:p>
      </dgm:t>
    </dgm:pt>
    <dgm:pt modelId="{C2759915-F102-46CC-A96A-C97591E591C6}" type="parTrans" cxnId="{99062E04-051D-48A1-B24D-6C583F0E6885}">
      <dgm:prSet/>
      <dgm:spPr/>
      <dgm:t>
        <a:bodyPr/>
        <a:lstStyle/>
        <a:p>
          <a:endParaRPr lang="fr-FR"/>
        </a:p>
      </dgm:t>
    </dgm:pt>
    <dgm:pt modelId="{505EA8C3-4468-4AC6-A978-5DE6A645615A}" type="sibTrans" cxnId="{99062E04-051D-48A1-B24D-6C583F0E6885}">
      <dgm:prSet/>
      <dgm:spPr/>
      <dgm:t>
        <a:bodyPr/>
        <a:lstStyle/>
        <a:p>
          <a:endParaRPr lang="fr-FR"/>
        </a:p>
      </dgm:t>
    </dgm:pt>
    <dgm:pt modelId="{11964201-2FCA-4556-BD67-A0760831CD60}" type="pres">
      <dgm:prSet presAssocID="{FEC5E777-E9E3-48C3-AE0A-AAB15A1CCF0E}" presName="CompostProcess" presStyleCnt="0">
        <dgm:presLayoutVars>
          <dgm:dir/>
          <dgm:resizeHandles val="exact"/>
        </dgm:presLayoutVars>
      </dgm:prSet>
      <dgm:spPr/>
    </dgm:pt>
    <dgm:pt modelId="{5575CF86-3724-4C09-81A0-52B123719802}" type="pres">
      <dgm:prSet presAssocID="{FEC5E777-E9E3-48C3-AE0A-AAB15A1CCF0E}" presName="arrow" presStyleLbl="bgShp" presStyleIdx="0" presStyleCnt="1"/>
      <dgm:spPr/>
    </dgm:pt>
    <dgm:pt modelId="{38458115-55E2-41C5-8BA5-3F546937AAF8}" type="pres">
      <dgm:prSet presAssocID="{FEC5E777-E9E3-48C3-AE0A-AAB15A1CCF0E}" presName="linearProcess" presStyleCnt="0"/>
      <dgm:spPr/>
    </dgm:pt>
    <dgm:pt modelId="{4A5D5DCE-0F95-4AAF-A041-B6F00040E7DE}" type="pres">
      <dgm:prSet presAssocID="{FA81C4C2-0E6E-49AE-A529-6F63A5C76F43}" presName="text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DF9234E-EAEF-4BC8-AEAB-64E238E2A38A}" type="pres">
      <dgm:prSet presAssocID="{D49119DE-D277-4CF6-9977-D8F7FBD61B1B}" presName="sibTrans" presStyleCnt="0"/>
      <dgm:spPr/>
    </dgm:pt>
    <dgm:pt modelId="{30F8086F-DEE2-4898-90FF-F707B7E5B4EE}" type="pres">
      <dgm:prSet presAssocID="{51B70F88-6A89-435A-AA41-399F871A0346}" presName="text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A968742-A327-4582-89EB-FC68D2876110}" type="pres">
      <dgm:prSet presAssocID="{5B908CDD-E727-4FB9-B8E9-833BEA6BFB65}" presName="sibTrans" presStyleCnt="0"/>
      <dgm:spPr/>
    </dgm:pt>
    <dgm:pt modelId="{3F956CAC-14E7-4543-9716-4ADAFE6723CB}" type="pres">
      <dgm:prSet presAssocID="{55C52B21-4B7C-4D04-B33E-DE6135BCFCCB}" presName="text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A024111-DE51-4248-8C74-A0F3A9039947}" type="pres">
      <dgm:prSet presAssocID="{52030286-5DFF-4825-9637-1F4BE223CB90}" presName="sibTrans" presStyleCnt="0"/>
      <dgm:spPr/>
    </dgm:pt>
    <dgm:pt modelId="{4CA198CC-D8ED-4FF3-8B77-98F400B8D86E}" type="pres">
      <dgm:prSet presAssocID="{FC03BAE9-ADC5-4166-873A-9BE1D5CC2E6D}" presName="text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3CB6B86-72A8-44AF-91D4-4013FB9E9597}" type="pres">
      <dgm:prSet presAssocID="{A375F0A3-20C9-4834-9C39-846D00E23BDE}" presName="sibTrans" presStyleCnt="0"/>
      <dgm:spPr/>
    </dgm:pt>
    <dgm:pt modelId="{6B088489-4E0D-4A35-A59A-DBAD0DF8D8DC}" type="pres">
      <dgm:prSet presAssocID="{431E881D-FD2F-432D-ADEA-094912B656F4}" presName="text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EFE1C05-A7E5-4CAB-9E1B-6AB0992C4F85}" type="pres">
      <dgm:prSet presAssocID="{1BC6BCFF-3005-4676-BAC7-6AAAE564B534}" presName="sibTrans" presStyleCnt="0"/>
      <dgm:spPr/>
    </dgm:pt>
    <dgm:pt modelId="{5B25A2EB-A91C-4182-89D8-CE07A1F9A48E}" type="pres">
      <dgm:prSet presAssocID="{F993E8B1-5CC5-4E40-A558-906BE8FDB31C}" presName="text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633CB4A-7CFF-4E6E-8B76-6DC742CC7F57}" type="pres">
      <dgm:prSet presAssocID="{AC43B8AC-EE22-4AB8-8E32-40BDE2326444}" presName="sibTrans" presStyleCnt="0"/>
      <dgm:spPr/>
    </dgm:pt>
    <dgm:pt modelId="{7D5793C8-D822-4355-BA93-1672F3650A3F}" type="pres">
      <dgm:prSet presAssocID="{7EF0A174-EF57-4B71-A15C-970A068A58BB}" presName="text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2471044-2E02-4000-8944-253297968CEB}" type="pres">
      <dgm:prSet presAssocID="{FC6F8BFB-D3D5-41B2-9E29-A94C55C8A5CE}" presName="sibTrans" presStyleCnt="0"/>
      <dgm:spPr/>
    </dgm:pt>
    <dgm:pt modelId="{1494CE82-E120-49E8-857D-B8FDBD1EFA3A}" type="pres">
      <dgm:prSet presAssocID="{6E014CDF-CE16-4F94-A778-32693B103E4A}" presName="text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AC3F43-07BE-46B2-A59B-6DDDEA82E6E5}" type="pres">
      <dgm:prSet presAssocID="{505EA8C3-4468-4AC6-A978-5DE6A645615A}" presName="sibTrans" presStyleCnt="0"/>
      <dgm:spPr/>
    </dgm:pt>
    <dgm:pt modelId="{FD27405B-C40A-48A1-8A42-0D93E7EAA932}" type="pres">
      <dgm:prSet presAssocID="{12C24871-AE18-41CD-9A1C-854252416226}" presName="text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4862A56-DE71-4322-BA9F-0CAB4C057FC4}" type="presOf" srcId="{F993E8B1-5CC5-4E40-A558-906BE8FDB31C}" destId="{5B25A2EB-A91C-4182-89D8-CE07A1F9A48E}" srcOrd="0" destOrd="0" presId="urn:microsoft.com/office/officeart/2005/8/layout/hProcess9"/>
    <dgm:cxn modelId="{99062E04-051D-48A1-B24D-6C583F0E6885}" srcId="{FEC5E777-E9E3-48C3-AE0A-AAB15A1CCF0E}" destId="{6E014CDF-CE16-4F94-A778-32693B103E4A}" srcOrd="7" destOrd="0" parTransId="{C2759915-F102-46CC-A96A-C97591E591C6}" sibTransId="{505EA8C3-4468-4AC6-A978-5DE6A645615A}"/>
    <dgm:cxn modelId="{9FAEDD23-BD04-4A7E-AB29-D83E48BF50DA}" type="presOf" srcId="{12C24871-AE18-41CD-9A1C-854252416226}" destId="{FD27405B-C40A-48A1-8A42-0D93E7EAA932}" srcOrd="0" destOrd="0" presId="urn:microsoft.com/office/officeart/2005/8/layout/hProcess9"/>
    <dgm:cxn modelId="{1C8F7D7C-503C-4D28-9B55-57FB420EE358}" type="presOf" srcId="{51B70F88-6A89-435A-AA41-399F871A0346}" destId="{30F8086F-DEE2-4898-90FF-F707B7E5B4EE}" srcOrd="0" destOrd="0" presId="urn:microsoft.com/office/officeart/2005/8/layout/hProcess9"/>
    <dgm:cxn modelId="{E2B96A7E-488D-47D9-9540-0FF43F563E49}" type="presOf" srcId="{FA81C4C2-0E6E-49AE-A529-6F63A5C76F43}" destId="{4A5D5DCE-0F95-4AAF-A041-B6F00040E7DE}" srcOrd="0" destOrd="0" presId="urn:microsoft.com/office/officeart/2005/8/layout/hProcess9"/>
    <dgm:cxn modelId="{5B768A43-A0F4-43D6-9F80-220CEDFCA762}" srcId="{FEC5E777-E9E3-48C3-AE0A-AAB15A1CCF0E}" destId="{F993E8B1-5CC5-4E40-A558-906BE8FDB31C}" srcOrd="5" destOrd="0" parTransId="{4080B47C-66CC-4B6E-88CC-04E9AF221E09}" sibTransId="{AC43B8AC-EE22-4AB8-8E32-40BDE2326444}"/>
    <dgm:cxn modelId="{4F47F853-5706-45F2-9555-F34BF257BE73}" type="presOf" srcId="{431E881D-FD2F-432D-ADEA-094912B656F4}" destId="{6B088489-4E0D-4A35-A59A-DBAD0DF8D8DC}" srcOrd="0" destOrd="0" presId="urn:microsoft.com/office/officeart/2005/8/layout/hProcess9"/>
    <dgm:cxn modelId="{8570913C-3B17-4DB8-A9D5-8F44CA28F361}" type="presOf" srcId="{FC03BAE9-ADC5-4166-873A-9BE1D5CC2E6D}" destId="{4CA198CC-D8ED-4FF3-8B77-98F400B8D86E}" srcOrd="0" destOrd="0" presId="urn:microsoft.com/office/officeart/2005/8/layout/hProcess9"/>
    <dgm:cxn modelId="{379369FB-42D6-4D1F-A629-90CD967DCDC5}" srcId="{FEC5E777-E9E3-48C3-AE0A-AAB15A1CCF0E}" destId="{12C24871-AE18-41CD-9A1C-854252416226}" srcOrd="8" destOrd="0" parTransId="{5C96B9A6-7998-4E7A-8A40-45821077AD9F}" sibTransId="{96F4101A-EF76-4242-9A76-854CAD4335B7}"/>
    <dgm:cxn modelId="{7F0887F0-E161-4963-9CBC-0CC8792450E0}" srcId="{FEC5E777-E9E3-48C3-AE0A-AAB15A1CCF0E}" destId="{51B70F88-6A89-435A-AA41-399F871A0346}" srcOrd="1" destOrd="0" parTransId="{C39CBD9B-C06E-4245-AAFB-B5B389D293EE}" sibTransId="{5B908CDD-E727-4FB9-B8E9-833BEA6BFB65}"/>
    <dgm:cxn modelId="{32913779-C377-48C8-899D-BD0BBAF9352E}" srcId="{FEC5E777-E9E3-48C3-AE0A-AAB15A1CCF0E}" destId="{431E881D-FD2F-432D-ADEA-094912B656F4}" srcOrd="4" destOrd="0" parTransId="{14D3A696-2AF1-484C-9D5C-8BE8FDEAF6FB}" sibTransId="{1BC6BCFF-3005-4676-BAC7-6AAAE564B534}"/>
    <dgm:cxn modelId="{CCC8C98C-4D25-4E59-8758-70758A8BB861}" type="presOf" srcId="{FEC5E777-E9E3-48C3-AE0A-AAB15A1CCF0E}" destId="{11964201-2FCA-4556-BD67-A0760831CD60}" srcOrd="0" destOrd="0" presId="urn:microsoft.com/office/officeart/2005/8/layout/hProcess9"/>
    <dgm:cxn modelId="{C81747AC-D121-4ECA-80DA-AF61DDE8BB81}" srcId="{FEC5E777-E9E3-48C3-AE0A-AAB15A1CCF0E}" destId="{7EF0A174-EF57-4B71-A15C-970A068A58BB}" srcOrd="6" destOrd="0" parTransId="{BC746F36-BC0D-41A3-9475-C82194166728}" sibTransId="{FC6F8BFB-D3D5-41B2-9E29-A94C55C8A5CE}"/>
    <dgm:cxn modelId="{9B1592BD-510A-47FD-B1B6-84D08F25E871}" type="presOf" srcId="{7EF0A174-EF57-4B71-A15C-970A068A58BB}" destId="{7D5793C8-D822-4355-BA93-1672F3650A3F}" srcOrd="0" destOrd="0" presId="urn:microsoft.com/office/officeart/2005/8/layout/hProcess9"/>
    <dgm:cxn modelId="{B208F43E-E83F-4EBA-BD4B-74DB1DC3F096}" srcId="{FEC5E777-E9E3-48C3-AE0A-AAB15A1CCF0E}" destId="{FC03BAE9-ADC5-4166-873A-9BE1D5CC2E6D}" srcOrd="3" destOrd="0" parTransId="{B162DB76-25DC-4E97-A1EC-15268F6DD27C}" sibTransId="{A375F0A3-20C9-4834-9C39-846D00E23BDE}"/>
    <dgm:cxn modelId="{90197EDB-AEF3-467A-834C-C76250CD4C33}" type="presOf" srcId="{55C52B21-4B7C-4D04-B33E-DE6135BCFCCB}" destId="{3F956CAC-14E7-4543-9716-4ADAFE6723CB}" srcOrd="0" destOrd="0" presId="urn:microsoft.com/office/officeart/2005/8/layout/hProcess9"/>
    <dgm:cxn modelId="{5522A25A-C796-4808-8EFC-1BC787F2A204}" srcId="{FEC5E777-E9E3-48C3-AE0A-AAB15A1CCF0E}" destId="{55C52B21-4B7C-4D04-B33E-DE6135BCFCCB}" srcOrd="2" destOrd="0" parTransId="{FC4154E1-2567-4B5E-B588-D6C8EAA91386}" sibTransId="{52030286-5DFF-4825-9637-1F4BE223CB90}"/>
    <dgm:cxn modelId="{FBBB3FDF-C89D-4188-BAF2-F03E769B7A57}" srcId="{FEC5E777-E9E3-48C3-AE0A-AAB15A1CCF0E}" destId="{FA81C4C2-0E6E-49AE-A529-6F63A5C76F43}" srcOrd="0" destOrd="0" parTransId="{9482FAFF-2905-42D2-B846-84B83AB62137}" sibTransId="{D49119DE-D277-4CF6-9977-D8F7FBD61B1B}"/>
    <dgm:cxn modelId="{8E184AF1-ECB0-48FE-903B-B9FED31AEBC5}" type="presOf" srcId="{6E014CDF-CE16-4F94-A778-32693B103E4A}" destId="{1494CE82-E120-49E8-857D-B8FDBD1EFA3A}" srcOrd="0" destOrd="0" presId="urn:microsoft.com/office/officeart/2005/8/layout/hProcess9"/>
    <dgm:cxn modelId="{D9E611D8-84AB-46F2-AABD-FB2773D7E773}" type="presParOf" srcId="{11964201-2FCA-4556-BD67-A0760831CD60}" destId="{5575CF86-3724-4C09-81A0-52B123719802}" srcOrd="0" destOrd="0" presId="urn:microsoft.com/office/officeart/2005/8/layout/hProcess9"/>
    <dgm:cxn modelId="{EAB32487-8289-486E-82CE-8DCB0BED7C11}" type="presParOf" srcId="{11964201-2FCA-4556-BD67-A0760831CD60}" destId="{38458115-55E2-41C5-8BA5-3F546937AAF8}" srcOrd="1" destOrd="0" presId="urn:microsoft.com/office/officeart/2005/8/layout/hProcess9"/>
    <dgm:cxn modelId="{ED4C2FDF-B634-4CC6-9FA0-4DBA85AC9310}" type="presParOf" srcId="{38458115-55E2-41C5-8BA5-3F546937AAF8}" destId="{4A5D5DCE-0F95-4AAF-A041-B6F00040E7DE}" srcOrd="0" destOrd="0" presId="urn:microsoft.com/office/officeart/2005/8/layout/hProcess9"/>
    <dgm:cxn modelId="{B5032FEB-2DF5-4318-BCDB-FF004A78A2DB}" type="presParOf" srcId="{38458115-55E2-41C5-8BA5-3F546937AAF8}" destId="{3DF9234E-EAEF-4BC8-AEAB-64E238E2A38A}" srcOrd="1" destOrd="0" presId="urn:microsoft.com/office/officeart/2005/8/layout/hProcess9"/>
    <dgm:cxn modelId="{9E59172F-5C85-4E39-9D03-B04D43F22F99}" type="presParOf" srcId="{38458115-55E2-41C5-8BA5-3F546937AAF8}" destId="{30F8086F-DEE2-4898-90FF-F707B7E5B4EE}" srcOrd="2" destOrd="0" presId="urn:microsoft.com/office/officeart/2005/8/layout/hProcess9"/>
    <dgm:cxn modelId="{BEBF5AB5-A860-4205-B4A7-4FD1F303EE4D}" type="presParOf" srcId="{38458115-55E2-41C5-8BA5-3F546937AAF8}" destId="{1A968742-A327-4582-89EB-FC68D2876110}" srcOrd="3" destOrd="0" presId="urn:microsoft.com/office/officeart/2005/8/layout/hProcess9"/>
    <dgm:cxn modelId="{AB6D9D73-2E15-43A0-BDB7-201A835A8592}" type="presParOf" srcId="{38458115-55E2-41C5-8BA5-3F546937AAF8}" destId="{3F956CAC-14E7-4543-9716-4ADAFE6723CB}" srcOrd="4" destOrd="0" presId="urn:microsoft.com/office/officeart/2005/8/layout/hProcess9"/>
    <dgm:cxn modelId="{53375360-D3C1-44C7-AA9F-48C07E4B4589}" type="presParOf" srcId="{38458115-55E2-41C5-8BA5-3F546937AAF8}" destId="{0A024111-DE51-4248-8C74-A0F3A9039947}" srcOrd="5" destOrd="0" presId="urn:microsoft.com/office/officeart/2005/8/layout/hProcess9"/>
    <dgm:cxn modelId="{A2B0D817-E898-4DFF-B7B4-ACB2D1D3FB11}" type="presParOf" srcId="{38458115-55E2-41C5-8BA5-3F546937AAF8}" destId="{4CA198CC-D8ED-4FF3-8B77-98F400B8D86E}" srcOrd="6" destOrd="0" presId="urn:microsoft.com/office/officeart/2005/8/layout/hProcess9"/>
    <dgm:cxn modelId="{5EB87F1B-EE1C-44AC-8985-47456886BB22}" type="presParOf" srcId="{38458115-55E2-41C5-8BA5-3F546937AAF8}" destId="{A3CB6B86-72A8-44AF-91D4-4013FB9E9597}" srcOrd="7" destOrd="0" presId="urn:microsoft.com/office/officeart/2005/8/layout/hProcess9"/>
    <dgm:cxn modelId="{66AD4C21-85DB-4601-A3D1-0B7550E64FF4}" type="presParOf" srcId="{38458115-55E2-41C5-8BA5-3F546937AAF8}" destId="{6B088489-4E0D-4A35-A59A-DBAD0DF8D8DC}" srcOrd="8" destOrd="0" presId="urn:microsoft.com/office/officeart/2005/8/layout/hProcess9"/>
    <dgm:cxn modelId="{0E247F0D-DEA1-4667-A314-6D75CACA6FB1}" type="presParOf" srcId="{38458115-55E2-41C5-8BA5-3F546937AAF8}" destId="{0EFE1C05-A7E5-4CAB-9E1B-6AB0992C4F85}" srcOrd="9" destOrd="0" presId="urn:microsoft.com/office/officeart/2005/8/layout/hProcess9"/>
    <dgm:cxn modelId="{35105633-EF10-4840-8EF1-7B16949AA246}" type="presParOf" srcId="{38458115-55E2-41C5-8BA5-3F546937AAF8}" destId="{5B25A2EB-A91C-4182-89D8-CE07A1F9A48E}" srcOrd="10" destOrd="0" presId="urn:microsoft.com/office/officeart/2005/8/layout/hProcess9"/>
    <dgm:cxn modelId="{79FEA290-EAA7-4D24-A293-C740A35A3FF1}" type="presParOf" srcId="{38458115-55E2-41C5-8BA5-3F546937AAF8}" destId="{6633CB4A-7CFF-4E6E-8B76-6DC742CC7F57}" srcOrd="11" destOrd="0" presId="urn:microsoft.com/office/officeart/2005/8/layout/hProcess9"/>
    <dgm:cxn modelId="{281E3A06-1746-46EA-8399-22B49DA433A8}" type="presParOf" srcId="{38458115-55E2-41C5-8BA5-3F546937AAF8}" destId="{7D5793C8-D822-4355-BA93-1672F3650A3F}" srcOrd="12" destOrd="0" presId="urn:microsoft.com/office/officeart/2005/8/layout/hProcess9"/>
    <dgm:cxn modelId="{B1A3A0A6-5DA0-431B-A788-69A5B6D1C8C5}" type="presParOf" srcId="{38458115-55E2-41C5-8BA5-3F546937AAF8}" destId="{12471044-2E02-4000-8944-253297968CEB}" srcOrd="13" destOrd="0" presId="urn:microsoft.com/office/officeart/2005/8/layout/hProcess9"/>
    <dgm:cxn modelId="{B52193DC-E767-40E2-AA31-8FD60C357CD6}" type="presParOf" srcId="{38458115-55E2-41C5-8BA5-3F546937AAF8}" destId="{1494CE82-E120-49E8-857D-B8FDBD1EFA3A}" srcOrd="14" destOrd="0" presId="urn:microsoft.com/office/officeart/2005/8/layout/hProcess9"/>
    <dgm:cxn modelId="{8FF6E52E-831A-45E5-A12D-4BACDD39B259}" type="presParOf" srcId="{38458115-55E2-41C5-8BA5-3F546937AAF8}" destId="{35AC3F43-07BE-46B2-A59B-6DDDEA82E6E5}" srcOrd="15" destOrd="0" presId="urn:microsoft.com/office/officeart/2005/8/layout/hProcess9"/>
    <dgm:cxn modelId="{2851A30A-E45E-45BE-8117-10A477FB2EF4}" type="presParOf" srcId="{38458115-55E2-41C5-8BA5-3F546937AAF8}" destId="{FD27405B-C40A-48A1-8A42-0D93E7EAA932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24/11/2015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24/11/2015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91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8504</a:t>
            </a:r>
            <a:r>
              <a:rPr lang="fr-FR" baseline="0" dirty="0" smtClean="0"/>
              <a:t> code + 9207 comment + 3104 </a:t>
            </a:r>
            <a:r>
              <a:rPr lang="fr-FR" baseline="0" dirty="0" err="1" smtClean="0"/>
              <a:t>blank</a:t>
            </a:r>
            <a:endParaRPr lang="fr-FR" baseline="0" dirty="0" smtClean="0"/>
          </a:p>
          <a:p>
            <a:r>
              <a:rPr lang="fr-FR" baseline="0" dirty="0" smtClean="0"/>
              <a:t>49 C++ files + 65 header files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605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783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63420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916238" y="6319838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65383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3059113" y="4221163"/>
            <a:ext cx="5905500" cy="1584325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3166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622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9" y="4051822"/>
            <a:ext cx="630019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77" y="6319838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749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8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4941319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7047301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672000" y="1949598"/>
            <a:ext cx="5364496" cy="47197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3672000" y="260649"/>
            <a:ext cx="5292488" cy="1584176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981075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5148000" y="2016000"/>
            <a:ext cx="3492000" cy="369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148000" y="2016000"/>
            <a:ext cx="3492000" cy="198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5148000" y="3999600"/>
            <a:ext cx="1746000" cy="1695600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6894000" y="3999600"/>
            <a:ext cx="1746000" cy="1695600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76000" y="1458000"/>
            <a:ext cx="8064000" cy="1908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4077072"/>
            <a:ext cx="8208963" cy="223224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3429000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846138"/>
            <a:ext cx="8459787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899592" y="5157788"/>
            <a:ext cx="3240360" cy="86360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3309938" y="0"/>
            <a:ext cx="5834062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8800" y="5799600"/>
            <a:ext cx="1897200" cy="9432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9505" y="5799600"/>
            <a:ext cx="3552775" cy="943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552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8229600" cy="6480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223838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Imag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88913"/>
            <a:ext cx="14224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0" y="6807200"/>
            <a:ext cx="9144000" cy="539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sp>
        <p:nvSpPr>
          <p:cNvPr id="9" name="ZoneTexte 8"/>
          <p:cNvSpPr txBox="1"/>
          <p:nvPr userDrawn="1"/>
        </p:nvSpPr>
        <p:spPr>
          <a:xfrm>
            <a:off x="8388424" y="727294"/>
            <a:ext cx="75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0AFE106-B932-4D59-A3BB-F68DB35E68B1}" type="slidenum">
              <a:rPr lang="fr-FR" sz="1200" smtClean="0">
                <a:solidFill>
                  <a:srgbClr val="5F5F5F"/>
                </a:solidFill>
              </a:rPr>
              <a:pPr algn="r"/>
              <a:t>‹N°›</a:t>
            </a:fld>
            <a:r>
              <a:rPr lang="fr-FR" sz="1200" dirty="0" smtClean="0">
                <a:solidFill>
                  <a:srgbClr val="5F5F5F"/>
                </a:solidFill>
              </a:rPr>
              <a:t>/16</a:t>
            </a:r>
          </a:p>
        </p:txBody>
      </p:sp>
      <p:sp>
        <p:nvSpPr>
          <p:cNvPr id="15" name="Espace réservé du pied de page 3"/>
          <p:cNvSpPr txBox="1">
            <a:spLocks/>
          </p:cNvSpPr>
          <p:nvPr userDrawn="1"/>
        </p:nvSpPr>
        <p:spPr>
          <a:xfrm>
            <a:off x="468312" y="6563667"/>
            <a:ext cx="8675688" cy="2905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rgbClr val="5F5F5F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Retro-engineering of UML-RT Runtime and Code Generation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5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gif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113" y="620688"/>
            <a:ext cx="5905500" cy="1800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Retro-engineering of UML-RT runtime and Code Generation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15" name="Espace réservé pour une image  2"/>
          <p:cNvSpPr>
            <a:spLocks noGrp="1"/>
          </p:cNvSpPr>
          <p:nvPr>
            <p:ph type="pic" sz="quarter" idx="14"/>
          </p:nvPr>
        </p:nvSpPr>
        <p:spPr bwMode="auto">
          <a:xfrm>
            <a:off x="28432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6" name="Espace réservé pour une image  3"/>
          <p:cNvSpPr>
            <a:spLocks noGrp="1"/>
          </p:cNvSpPr>
          <p:nvPr>
            <p:ph type="pic" sz="quarter" idx="23"/>
          </p:nvPr>
        </p:nvSpPr>
        <p:spPr bwMode="auto">
          <a:xfrm>
            <a:off x="4941888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7" name="Espace réservé pour une image  4"/>
          <p:cNvSpPr>
            <a:spLocks noGrp="1"/>
          </p:cNvSpPr>
          <p:nvPr>
            <p:ph type="pic" sz="quarter" idx="24"/>
          </p:nvPr>
        </p:nvSpPr>
        <p:spPr bwMode="auto">
          <a:xfrm>
            <a:off x="70469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" name="Espace réservé du pied de page 5"/>
          <p:cNvSpPr>
            <a:spLocks noGrp="1"/>
          </p:cNvSpPr>
          <p:nvPr>
            <p:ph type="ftr" sz="quarter" idx="25"/>
          </p:nvPr>
        </p:nvSpPr>
        <p:spPr>
          <a:xfrm>
            <a:off x="3059113" y="2708920"/>
            <a:ext cx="5905500" cy="115212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Shuai Li, Ansgar </a:t>
            </a:r>
            <a:r>
              <a:rPr lang="fr-FR" dirty="0" err="1" smtClean="0"/>
              <a:t>Radermacher</a:t>
            </a:r>
            <a:r>
              <a:rPr lang="fr-FR" dirty="0" smtClean="0"/>
              <a:t>, Rémi </a:t>
            </a:r>
            <a:r>
              <a:rPr lang="fr-FR" dirty="0" err="1" smtClean="0"/>
              <a:t>Schnekenburger</a:t>
            </a:r>
            <a:r>
              <a:rPr lang="fr-FR" dirty="0" smtClean="0"/>
              <a:t>, Chokri </a:t>
            </a:r>
            <a:r>
              <a:rPr lang="fr-FR" dirty="0" err="1" smtClean="0"/>
              <a:t>Mraidha</a:t>
            </a:r>
            <a:r>
              <a:rPr lang="fr-FR" dirty="0" smtClean="0"/>
              <a:t>, Sébastien Gérard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{</a:t>
            </a:r>
            <a:r>
              <a:rPr lang="fr-FR" dirty="0" err="1" smtClean="0"/>
              <a:t>first_name</a:t>
            </a:r>
            <a:r>
              <a:rPr lang="fr-FR" dirty="0" smtClean="0"/>
              <a:t>}.{</a:t>
            </a:r>
            <a:r>
              <a:rPr lang="fr-FR" dirty="0" err="1" smtClean="0"/>
              <a:t>last_name</a:t>
            </a:r>
            <a:r>
              <a:rPr lang="fr-FR" dirty="0"/>
              <a:t>}</a:t>
            </a:r>
            <a:r>
              <a:rPr lang="fr-FR" dirty="0" smtClean="0"/>
              <a:t>@cea.fr</a:t>
            </a:r>
            <a:endParaRPr lang="fr-FR" dirty="0"/>
          </a:p>
        </p:txBody>
      </p:sp>
      <p:pic>
        <p:nvPicPr>
          <p:cNvPr id="13320" name="Espace réservé pour une image  6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Espace réservé pour une image  7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Espace réservé pour une image  8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4057650"/>
            <a:ext cx="2100263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309320"/>
            <a:ext cx="1152003" cy="316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UML-RT Runtime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Library to compile and execute code generated from UML-RT models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Written in C/C++ manually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Classes and structures are all placed within a same package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Proposition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Retro-engineer the UML-RT runtime to have a UML model of it (including diagrams)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Refactor the runtime by re-packaging its elements and re-defining its architecture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Re-generate the code of the runtime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Advantages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Benefit from the all the advantages of a Model-Driven Engineering (MDE) development approach…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…opening up several perspectives as we will see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Context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97754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110633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Retro-engineering process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Retro-engineering Work</a:t>
            </a:r>
            <a:endParaRPr lang="fr-FR" dirty="0"/>
          </a:p>
        </p:txBody>
      </p:sp>
      <p:grpSp>
        <p:nvGrpSpPr>
          <p:cNvPr id="27" name="Groupe 26"/>
          <p:cNvGrpSpPr/>
          <p:nvPr/>
        </p:nvGrpSpPr>
        <p:grpSpPr>
          <a:xfrm>
            <a:off x="436534" y="1412776"/>
            <a:ext cx="1349896" cy="899931"/>
            <a:chOff x="843897" y="1772816"/>
            <a:chExt cx="1349896" cy="899931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042" y="1849429"/>
              <a:ext cx="995606" cy="746705"/>
            </a:xfrm>
            <a:prstGeom prst="rect">
              <a:avLst/>
            </a:prstGeom>
          </p:spPr>
        </p:pic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897" y="1772816"/>
              <a:ext cx="1349896" cy="899931"/>
            </a:xfrm>
            <a:prstGeom prst="rect">
              <a:avLst/>
            </a:prstGeom>
          </p:spPr>
        </p:pic>
      </p:grpSp>
      <p:pic>
        <p:nvPicPr>
          <p:cNvPr id="32" name="Image 31" descr="C:\Users\ST225414\Desktop\PICTO QOMPAS DEF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98629" y="5661248"/>
            <a:ext cx="807554" cy="80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5" name="Groupe 34"/>
          <p:cNvGrpSpPr/>
          <p:nvPr/>
        </p:nvGrpSpPr>
        <p:grpSpPr>
          <a:xfrm>
            <a:off x="4447193" y="4619208"/>
            <a:ext cx="1749481" cy="1182980"/>
            <a:chOff x="2627639" y="2810529"/>
            <a:chExt cx="1749481" cy="1182980"/>
          </a:xfrm>
        </p:grpSpPr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6584" y="2810529"/>
              <a:ext cx="1415192" cy="1147067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7639" y="3532259"/>
              <a:ext cx="648840" cy="461250"/>
            </a:xfrm>
            <a:prstGeom prst="rect">
              <a:avLst/>
            </a:prstGeom>
          </p:spPr>
        </p:pic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09" y="3623978"/>
              <a:ext cx="511311" cy="277812"/>
            </a:xfrm>
            <a:prstGeom prst="rect">
              <a:avLst/>
            </a:prstGeom>
          </p:spPr>
        </p:pic>
      </p:grpSp>
      <p:grpSp>
        <p:nvGrpSpPr>
          <p:cNvPr id="36" name="Groupe 35"/>
          <p:cNvGrpSpPr/>
          <p:nvPr/>
        </p:nvGrpSpPr>
        <p:grpSpPr>
          <a:xfrm>
            <a:off x="2336017" y="3047878"/>
            <a:ext cx="1843917" cy="826534"/>
            <a:chOff x="4283968" y="4542440"/>
            <a:chExt cx="1843917" cy="826534"/>
          </a:xfrm>
        </p:grpSpPr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6016" y="4542440"/>
              <a:ext cx="1296144" cy="682713"/>
            </a:xfrm>
            <a:prstGeom prst="rect">
              <a:avLst/>
            </a:prstGeom>
          </p:spPr>
        </p:pic>
        <p:pic>
          <p:nvPicPr>
            <p:cNvPr id="31" name="Image 3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68" y="4907724"/>
              <a:ext cx="648840" cy="461250"/>
            </a:xfrm>
            <a:prstGeom prst="rect">
              <a:avLst/>
            </a:prstGeom>
          </p:spPr>
        </p:pic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6574" y="4999443"/>
              <a:ext cx="511311" cy="277812"/>
            </a:xfrm>
            <a:prstGeom prst="rect">
              <a:avLst/>
            </a:prstGeom>
          </p:spPr>
        </p:pic>
      </p:grpSp>
      <p:cxnSp>
        <p:nvCxnSpPr>
          <p:cNvPr id="37" name="Straight Arrow Connector 11"/>
          <p:cNvCxnSpPr/>
          <p:nvPr/>
        </p:nvCxnSpPr>
        <p:spPr>
          <a:xfrm>
            <a:off x="1772700" y="2442188"/>
            <a:ext cx="864095" cy="799327"/>
          </a:xfrm>
          <a:prstGeom prst="straightConnector1">
            <a:avLst/>
          </a:prstGeom>
          <a:noFill/>
          <a:ln w="25400" cap="flat" cmpd="sng" algn="ctr">
            <a:solidFill>
              <a:srgbClr val="1F497D"/>
            </a:solidFill>
            <a:prstDash val="solid"/>
            <a:tailEnd type="triangle"/>
          </a:ln>
          <a:effectLst/>
        </p:spPr>
      </p:cxnSp>
      <p:cxnSp>
        <p:nvCxnSpPr>
          <p:cNvPr id="40" name="Straight Arrow Connector 11"/>
          <p:cNvCxnSpPr/>
          <p:nvPr/>
        </p:nvCxnSpPr>
        <p:spPr>
          <a:xfrm>
            <a:off x="4054615" y="4149080"/>
            <a:ext cx="864095" cy="799327"/>
          </a:xfrm>
          <a:prstGeom prst="straightConnector1">
            <a:avLst/>
          </a:prstGeom>
          <a:noFill/>
          <a:ln w="25400" cap="flat" cmpd="sng" algn="ctr">
            <a:solidFill>
              <a:srgbClr val="1F497D"/>
            </a:solidFill>
            <a:prstDash val="solid"/>
            <a:tailEnd type="triangle"/>
          </a:ln>
          <a:effectLst/>
        </p:spPr>
      </p:cxnSp>
      <p:cxnSp>
        <p:nvCxnSpPr>
          <p:cNvPr id="42" name="Straight Arrow Connector 11"/>
          <p:cNvCxnSpPr/>
          <p:nvPr/>
        </p:nvCxnSpPr>
        <p:spPr>
          <a:xfrm>
            <a:off x="6398240" y="5661248"/>
            <a:ext cx="1184365" cy="402978"/>
          </a:xfrm>
          <a:prstGeom prst="straightConnector1">
            <a:avLst/>
          </a:prstGeom>
          <a:noFill/>
          <a:ln w="25400" cap="flat" cmpd="sng" algn="ctr">
            <a:solidFill>
              <a:srgbClr val="1F497D"/>
            </a:solidFill>
            <a:prstDash val="solid"/>
            <a:tailEnd type="triangle"/>
          </a:ln>
          <a:effectLst/>
        </p:spPr>
      </p:cxnSp>
      <p:cxnSp>
        <p:nvCxnSpPr>
          <p:cNvPr id="46" name="Connecteur en arc 45"/>
          <p:cNvCxnSpPr>
            <a:stCxn id="32" idx="0"/>
            <a:endCxn id="26" idx="3"/>
          </p:cNvCxnSpPr>
          <p:nvPr/>
        </p:nvCxnSpPr>
        <p:spPr>
          <a:xfrm rot="16200000" flipV="1">
            <a:off x="3095165" y="554007"/>
            <a:ext cx="3798506" cy="6415976"/>
          </a:xfrm>
          <a:prstGeom prst="curvedConnector2">
            <a:avLst/>
          </a:prstGeom>
          <a:ln w="25400">
            <a:solidFill>
              <a:srgbClr val="1F49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0" y="2841851"/>
            <a:ext cx="25292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>
                <a:solidFill>
                  <a:srgbClr val="1F497D"/>
                </a:solidFill>
              </a:rPr>
              <a:t>Semi-auto retro-engineering </a:t>
            </a:r>
            <a:r>
              <a:rPr lang="fr-FR" sz="1400" i="1" dirty="0" err="1" smtClean="0">
                <a:solidFill>
                  <a:srgbClr val="1F497D"/>
                </a:solidFill>
              </a:rPr>
              <a:t>with</a:t>
            </a:r>
            <a:r>
              <a:rPr lang="fr-FR" sz="1400" i="1" dirty="0" smtClean="0">
                <a:solidFill>
                  <a:srgbClr val="1F497D"/>
                </a:solidFill>
              </a:rPr>
              <a:t> Papyrus/CDT synchronisation plugin</a:t>
            </a:r>
            <a:endParaRPr lang="fr-FR" sz="1400" i="1" dirty="0">
              <a:solidFill>
                <a:srgbClr val="1F497D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3376604" y="4509120"/>
            <a:ext cx="12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 err="1" smtClean="0">
                <a:solidFill>
                  <a:srgbClr val="1F497D"/>
                </a:solidFill>
              </a:rPr>
              <a:t>Refactoring</a:t>
            </a:r>
            <a:endParaRPr lang="fr-FR" sz="1400" i="1" dirty="0">
              <a:solidFill>
                <a:srgbClr val="1F497D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6172450" y="2687962"/>
            <a:ext cx="1626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>
                <a:solidFill>
                  <a:srgbClr val="1F497D"/>
                </a:solidFill>
              </a:rPr>
              <a:t>Code </a:t>
            </a:r>
            <a:r>
              <a:rPr lang="fr-FR" sz="1400" i="1" dirty="0" err="1" smtClean="0">
                <a:solidFill>
                  <a:srgbClr val="1F497D"/>
                </a:solidFill>
              </a:rPr>
              <a:t>generation</a:t>
            </a:r>
            <a:endParaRPr lang="fr-FR" sz="1400" i="1" dirty="0">
              <a:solidFill>
                <a:srgbClr val="1F497D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1562423" y="3769876"/>
            <a:ext cx="3707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accent1"/>
                </a:solidFill>
              </a:rPr>
              <a:t>UML model of UML-RT </a:t>
            </a:r>
            <a:r>
              <a:rPr lang="fr-FR" sz="1400" b="1" dirty="0" err="1" smtClean="0">
                <a:solidFill>
                  <a:schemeClr val="accent1"/>
                </a:solidFill>
              </a:rPr>
              <a:t>runtime</a:t>
            </a:r>
            <a:r>
              <a:rPr lang="fr-FR" sz="1400" b="1" dirty="0" smtClean="0">
                <a:solidFill>
                  <a:schemeClr val="accent1"/>
                </a:solidFill>
              </a:rPr>
              <a:t>, </a:t>
            </a:r>
            <a:r>
              <a:rPr lang="fr-FR" sz="1400" b="1" dirty="0" err="1" smtClean="0">
                <a:solidFill>
                  <a:schemeClr val="accent1"/>
                </a:solidFill>
              </a:rPr>
              <a:t>with</a:t>
            </a:r>
            <a:r>
              <a:rPr lang="fr-FR" sz="1400" b="1" dirty="0" smtClean="0">
                <a:solidFill>
                  <a:schemeClr val="accent1"/>
                </a:solidFill>
              </a:rPr>
              <a:t> </a:t>
            </a:r>
            <a:r>
              <a:rPr lang="fr-FR" sz="1400" b="1" dirty="0" err="1" smtClean="0">
                <a:solidFill>
                  <a:schemeClr val="accent1"/>
                </a:solidFill>
              </a:rPr>
              <a:t>C_Cpp</a:t>
            </a:r>
            <a:r>
              <a:rPr lang="fr-FR" sz="1400" b="1" dirty="0" smtClean="0">
                <a:solidFill>
                  <a:schemeClr val="accent1"/>
                </a:solidFill>
              </a:rPr>
              <a:t> and Standard profiles </a:t>
            </a:r>
            <a:r>
              <a:rPr lang="fr-FR" sz="1400" b="1" dirty="0" err="1" smtClean="0">
                <a:solidFill>
                  <a:schemeClr val="accent1"/>
                </a:solidFill>
              </a:rPr>
              <a:t>applied</a:t>
            </a:r>
            <a:endParaRPr lang="fr-FR" sz="1400" b="1" dirty="0">
              <a:solidFill>
                <a:schemeClr val="accent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4325147" y="5802616"/>
            <a:ext cx="2649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 smtClean="0">
                <a:solidFill>
                  <a:schemeClr val="accent1"/>
                </a:solidFill>
              </a:rPr>
              <a:t>Re-packaged</a:t>
            </a:r>
            <a:r>
              <a:rPr lang="fr-FR" sz="1400" b="1" dirty="0">
                <a:solidFill>
                  <a:schemeClr val="accent1"/>
                </a:solidFill>
              </a:rPr>
              <a:t> </a:t>
            </a:r>
            <a:r>
              <a:rPr lang="fr-FR" sz="1400" b="1" dirty="0" smtClean="0">
                <a:solidFill>
                  <a:schemeClr val="accent1"/>
                </a:solidFill>
              </a:rPr>
              <a:t>model, </a:t>
            </a:r>
            <a:r>
              <a:rPr lang="fr-FR" sz="1400" b="1" dirty="0" err="1" smtClean="0">
                <a:solidFill>
                  <a:schemeClr val="accent1"/>
                </a:solidFill>
              </a:rPr>
              <a:t>with</a:t>
            </a:r>
            <a:r>
              <a:rPr lang="fr-FR" sz="1400" b="1" dirty="0" smtClean="0">
                <a:solidFill>
                  <a:schemeClr val="accent1"/>
                </a:solidFill>
              </a:rPr>
              <a:t> </a:t>
            </a:r>
            <a:r>
              <a:rPr lang="fr-FR" sz="1400" b="1" dirty="0" err="1" smtClean="0">
                <a:solidFill>
                  <a:schemeClr val="accent1"/>
                </a:solidFill>
              </a:rPr>
              <a:t>added</a:t>
            </a:r>
            <a:r>
              <a:rPr lang="fr-FR" sz="1400" b="1" dirty="0" smtClean="0">
                <a:solidFill>
                  <a:schemeClr val="accent1"/>
                </a:solidFill>
              </a:rPr>
              <a:t> associations</a:t>
            </a:r>
            <a:endParaRPr lang="fr-FR" sz="1400" b="1" dirty="0">
              <a:solidFill>
                <a:schemeClr val="accent1"/>
              </a:solidFill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7306569" y="5210698"/>
            <a:ext cx="1801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accent1"/>
                </a:solidFill>
              </a:rPr>
              <a:t>Papyrus C++ code </a:t>
            </a:r>
            <a:r>
              <a:rPr lang="fr-FR" sz="1400" b="1" dirty="0" err="1" smtClean="0">
                <a:solidFill>
                  <a:schemeClr val="accent1"/>
                </a:solidFill>
              </a:rPr>
              <a:t>generator</a:t>
            </a:r>
            <a:endParaRPr lang="fr-FR" sz="1400" b="1" dirty="0">
              <a:solidFill>
                <a:schemeClr val="accent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78937" y="2236094"/>
            <a:ext cx="206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accent1"/>
                </a:solidFill>
              </a:rPr>
              <a:t>UML-RT </a:t>
            </a:r>
            <a:r>
              <a:rPr lang="fr-FR" sz="1400" b="1" dirty="0" err="1" smtClean="0">
                <a:solidFill>
                  <a:schemeClr val="accent1"/>
                </a:solidFill>
              </a:rPr>
              <a:t>runtime</a:t>
            </a:r>
            <a:r>
              <a:rPr lang="fr-FR" sz="1400" b="1" dirty="0" smtClean="0">
                <a:solidFill>
                  <a:schemeClr val="accent1"/>
                </a:solidFill>
              </a:rPr>
              <a:t> code</a:t>
            </a:r>
            <a:endParaRPr lang="fr-FR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8964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74129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Some examples of the model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Retro-engineering Work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543460" y="6217567"/>
            <a:ext cx="405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UMLRTMessage</a:t>
            </a:r>
            <a:r>
              <a:rPr lang="en-US" b="1" dirty="0" smtClean="0"/>
              <a:t> class diagram</a:t>
            </a:r>
            <a:endParaRPr lang="en-US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619" y="1412776"/>
            <a:ext cx="6104762" cy="479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7404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74129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E60019"/>
                </a:solidFill>
              </a:rPr>
              <a:t>Some examples of the model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Retro-engineering Work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0929"/>
            <a:ext cx="9144000" cy="481638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107207" y="6217567"/>
            <a:ext cx="292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Inheritances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407657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3273"/>
            <a:ext cx="9144000" cy="5027922"/>
          </a:xfrm>
          <a:prstGeom prst="rect">
            <a:avLst/>
          </a:prstGeom>
        </p:spPr>
      </p:pic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74129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E60019"/>
                </a:solidFill>
              </a:rPr>
              <a:t>Some examples of the model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Retro-engineering Work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107207" y="6340437"/>
            <a:ext cx="292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Packages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2501021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74129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Model and code generation demo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Retro-engineering Work</a:t>
            </a:r>
            <a:endParaRPr lang="fr-FR" dirty="0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3095836" y="3430086"/>
            <a:ext cx="2952328" cy="646986"/>
          </a:xfrm>
          <a:prstGeom prst="flowChartAlternateProcess">
            <a:avLst/>
          </a:prstGeom>
          <a:gradFill rotWithShape="0">
            <a:gsLst>
              <a:gs pos="0">
                <a:srgbClr val="F6FFE7"/>
              </a:gs>
              <a:gs pos="100000">
                <a:srgbClr val="DCFF8F"/>
              </a:gs>
            </a:gsLst>
            <a:lin ang="5400000" scaled="1"/>
          </a:gradFill>
          <a:ln w="15875">
            <a:solidFill>
              <a:srgbClr val="7BC000"/>
            </a:solidFill>
            <a:miter lim="800000"/>
            <a:headEnd/>
            <a:tailEnd/>
          </a:ln>
          <a:effectLst>
            <a:reflection blurRad="6350" stA="50000" endA="300" endPos="55000" dir="5400000" sy="-100000" algn="bl" rotWithShape="0"/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Live demo ►</a:t>
            </a:r>
          </a:p>
        </p:txBody>
      </p:sp>
    </p:spTree>
    <p:extLst>
      <p:ext uri="{BB962C8B-B14F-4D97-AF65-F5344CB8AC3E}">
        <p14:creationId xmlns:p14="http://schemas.microsoft.com/office/powerpoint/2010/main" val="120077719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Results</a:t>
            </a:r>
            <a:endParaRPr lang="fr-FR" dirty="0"/>
          </a:p>
        </p:txBody>
      </p:sp>
      <p:grpSp>
        <p:nvGrpSpPr>
          <p:cNvPr id="7" name="Groupe 6"/>
          <p:cNvGrpSpPr/>
          <p:nvPr/>
        </p:nvGrpSpPr>
        <p:grpSpPr>
          <a:xfrm>
            <a:off x="1259632" y="874707"/>
            <a:ext cx="6048672" cy="798932"/>
            <a:chOff x="1652759" y="1307783"/>
            <a:chExt cx="7632362" cy="1008112"/>
          </a:xfrm>
        </p:grpSpPr>
        <p:sp>
          <p:nvSpPr>
            <p:cNvPr id="8" name="Rectangle à coins arrondis 7"/>
            <p:cNvSpPr/>
            <p:nvPr/>
          </p:nvSpPr>
          <p:spPr>
            <a:xfrm>
              <a:off x="2699792" y="1307783"/>
              <a:ext cx="6585329" cy="1008112"/>
            </a:xfrm>
            <a:prstGeom prst="roundRect">
              <a:avLst/>
            </a:prstGeom>
            <a:gradFill>
              <a:gsLst>
                <a:gs pos="0">
                  <a:srgbClr val="C6F3FC"/>
                </a:gs>
                <a:gs pos="100000">
                  <a:srgbClr val="53D6F5"/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600" dirty="0" smtClean="0">
                  <a:solidFill>
                    <a:schemeClr val="tx1"/>
                  </a:solidFill>
                </a:rPr>
                <a:t>65 classes of the runtime were modeled. 20815 lines of code were generated. Generation takes 5 seconds.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1652759" y="1308375"/>
              <a:ext cx="914400" cy="825073"/>
            </a:xfrm>
            <a:prstGeom prst="wedgeRoundRectCallout">
              <a:avLst>
                <a:gd name="adj1" fmla="val 49328"/>
                <a:gd name="adj2" fmla="val 69722"/>
                <a:gd name="adj3" fmla="val 16667"/>
              </a:avLst>
            </a:prstGeom>
            <a:gradFill>
              <a:gsLst>
                <a:gs pos="0">
                  <a:srgbClr val="C6F3FC"/>
                </a:gs>
                <a:gs pos="100000">
                  <a:srgbClr val="53D6F5"/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 smtClean="0">
                  <a:solidFill>
                    <a:schemeClr val="tx1"/>
                  </a:solidFill>
                  <a:latin typeface="Ravie" panose="04040805050809020602" pitchFamily="82" charset="0"/>
                </a:rPr>
                <a:t>!</a:t>
              </a:r>
              <a:endParaRPr lang="fr-FR" sz="3600" dirty="0">
                <a:solidFill>
                  <a:schemeClr val="tx1"/>
                </a:solidFill>
                <a:latin typeface="Ravie" panose="04040805050809020602" pitchFamily="82" charset="0"/>
              </a:endParaRPr>
            </a:p>
          </p:txBody>
        </p:sp>
      </p:grpSp>
      <p:sp>
        <p:nvSpPr>
          <p:cNvPr id="10" name="ZoneTexte 9"/>
          <p:cNvSpPr txBox="1"/>
          <p:nvPr/>
        </p:nvSpPr>
        <p:spPr>
          <a:xfrm>
            <a:off x="518954" y="1890170"/>
            <a:ext cx="8106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Modeling/code generation possibilities and shortages</a:t>
            </a:r>
            <a:endParaRPr lang="en-US" sz="1400" b="1" dirty="0"/>
          </a:p>
        </p:txBody>
      </p:sp>
      <p:graphicFrame>
        <p:nvGraphicFramePr>
          <p:cNvPr id="11" name="Espace réservé du contenu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962116"/>
              </p:ext>
            </p:extLst>
          </p:nvPr>
        </p:nvGraphicFramePr>
        <p:xfrm>
          <a:off x="107504" y="2191114"/>
          <a:ext cx="8889182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488"/>
                <a:gridCol w="449669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>
                          <a:solidFill>
                            <a:schemeClr val="tx1"/>
                          </a:solidFill>
                        </a:rPr>
                        <a:t>Possible to model</a:t>
                      </a:r>
                      <a:r>
                        <a:rPr lang="en-US" sz="1400" baseline="0" noProof="0" dirty="0" smtClean="0">
                          <a:solidFill>
                            <a:schemeClr val="tx1"/>
                          </a:solidFill>
                        </a:rPr>
                        <a:t> and generate</a:t>
                      </a:r>
                      <a:endParaRPr lang="en-US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>
                          <a:solidFill>
                            <a:schemeClr val="tx1"/>
                          </a:solidFill>
                        </a:rPr>
                        <a:t>Shortages</a:t>
                      </a:r>
                      <a:endParaRPr lang="en-US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Class and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Method implementation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Constructors and constant initialization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Destructor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Type definition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 primitive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External library</a:t>
                      </a:r>
                      <a:r>
                        <a:rPr lang="en-US" sz="1400" baseline="0" dirty="0" smtClean="0"/>
                        <a:t> and type</a:t>
                      </a:r>
                      <a:endParaRPr lang="en-US" sz="14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Constant (any</a:t>
                      </a:r>
                      <a:r>
                        <a:rPr lang="en-US" sz="1400" baseline="0" dirty="0" smtClean="0"/>
                        <a:t> combination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Pointer (any</a:t>
                      </a:r>
                      <a:r>
                        <a:rPr lang="en-US" sz="1400" baseline="0" dirty="0" smtClean="0"/>
                        <a:t> combination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Reference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Virtual and abstract method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Static method and attribute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Manual include and define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Function pointer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err="1" smtClean="0"/>
                        <a:t>Variadic</a:t>
                      </a:r>
                      <a:r>
                        <a:rPr lang="en-US" sz="1400" b="1" dirty="0" smtClean="0"/>
                        <a:t> function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Mutable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Inner class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400" b="1" dirty="0" smtClean="0"/>
                        <a:t>(Automatic) forward</a:t>
                      </a:r>
                      <a:r>
                        <a:rPr lang="en-US" sz="1400" b="1" baseline="0" dirty="0" smtClean="0"/>
                        <a:t> declaration and include policy</a:t>
                      </a:r>
                      <a:endParaRPr lang="en-US" sz="14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 smtClean="0"/>
                        <a:t>OS abstraction layer (to</a:t>
                      </a:r>
                      <a:r>
                        <a:rPr lang="en-US" sz="1400" baseline="0" dirty="0" smtClean="0"/>
                        <a:t> model instead of using external type and linking at compilation)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aseline="0" dirty="0" smtClean="0"/>
                        <a:t>Function template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aseline="0" dirty="0" err="1" smtClean="0"/>
                        <a:t>Bitfield</a:t>
                      </a:r>
                      <a:endParaRPr lang="en-US" sz="1400" baseline="0" dirty="0" smtClean="0"/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aseline="0" smtClean="0"/>
                        <a:t>Extern variable</a:t>
                      </a:r>
                      <a:endParaRPr lang="en-US" sz="1400" baseline="0" dirty="0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baseline="0" dirty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 smtClean="0">
                          <a:sym typeface="Wingdings" panose="05000000000000000000" pitchFamily="2" charset="2"/>
                        </a:rPr>
                        <a:t> Some of these shortages aren’t blocking.</a:t>
                      </a:r>
                      <a:endParaRPr lang="en-US" sz="1400" baseline="0" dirty="0" smtClean="0"/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400" dirty="0" smtClean="0"/>
                    </a:p>
                    <a:p>
                      <a:endParaRPr lang="fr-F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43081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Results</a:t>
            </a:r>
            <a:endParaRPr lang="fr-FR" dirty="0"/>
          </a:p>
        </p:txBody>
      </p:sp>
      <p:graphicFrame>
        <p:nvGraphicFramePr>
          <p:cNvPr id="6" name="Espace réservé du contenu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9405635"/>
              </p:ext>
            </p:extLst>
          </p:nvPr>
        </p:nvGraphicFramePr>
        <p:xfrm>
          <a:off x="53753" y="1076280"/>
          <a:ext cx="9036495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016"/>
                <a:gridCol w="2808312"/>
                <a:gridCol w="37981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Original runtime</a:t>
                      </a:r>
                      <a:endParaRPr lang="en-US" sz="12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Modeled/generated runtime</a:t>
                      </a:r>
                      <a:endParaRPr lang="en-US" sz="12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2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noProof="0" dirty="0" smtClean="0"/>
                        <a:t>Structure</a:t>
                      </a:r>
                      <a:r>
                        <a:rPr lang="en-US" sz="1200" b="1" baseline="0" noProof="0" dirty="0" smtClean="0"/>
                        <a:t> with implemented method</a:t>
                      </a:r>
                      <a:endParaRPr lang="en-US" sz="1200" b="1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noProof="0" dirty="0" smtClean="0"/>
                        <a:t>Class</a:t>
                      </a:r>
                      <a:r>
                        <a:rPr lang="en-US" sz="1200" b="1" baseline="0" noProof="0" dirty="0" smtClean="0"/>
                        <a:t> with public features</a:t>
                      </a:r>
                      <a:endParaRPr lang="en-US" sz="1200" b="1" noProof="0" dirty="0" smtClean="0"/>
                    </a:p>
                    <a:p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A struct</a:t>
                      </a:r>
                      <a:r>
                        <a:rPr lang="en-US" sz="1200" b="1" baseline="0" noProof="0" dirty="0" smtClean="0"/>
                        <a:t>ure in C++ is equivalent to a class with public features. 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noProof="0" dirty="0" smtClean="0"/>
                        <a:t>All-in-one</a:t>
                      </a:r>
                      <a:r>
                        <a:rPr lang="en-US" sz="1200" baseline="0" noProof="0" dirty="0" smtClean="0"/>
                        <a:t> package</a:t>
                      </a:r>
                      <a:endParaRPr lang="en-US" sz="12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Re-packaging of elements according to their semantic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Namespaces,</a:t>
                      </a:r>
                      <a:r>
                        <a:rPr lang="en-US" sz="1200" baseline="0" noProof="0" dirty="0" smtClean="0"/>
                        <a:t> includes, and forward declarations</a:t>
                      </a:r>
                      <a:r>
                        <a:rPr lang="en-US" sz="1200" noProof="0" dirty="0" smtClean="0"/>
                        <a:t> are handled</a:t>
                      </a:r>
                      <a:r>
                        <a:rPr lang="en-US" sz="1200" baseline="0" noProof="0" dirty="0" smtClean="0"/>
                        <a:t> automatically.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noProof="0" dirty="0" smtClean="0"/>
                        <a:t>No namespace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Namespace in model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/>
                        <a:t>…but model can be generated without namespaces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noProof="0" dirty="0" smtClean="0"/>
                        <a:t>No common</a:t>
                      </a:r>
                      <a:r>
                        <a:rPr lang="en-US" sz="1200" b="1" baseline="0" noProof="0" dirty="0" smtClean="0"/>
                        <a:t> format for comments before attributes or methods</a:t>
                      </a:r>
                      <a:endParaRPr lang="en-US" sz="1200" b="1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Comments must follow a certain format.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/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noProof="0" dirty="0" smtClean="0"/>
                        <a:t>Extern</a:t>
                      </a:r>
                      <a:r>
                        <a:rPr lang="en-US" sz="1200" b="1" baseline="0" noProof="0" dirty="0" smtClean="0"/>
                        <a:t> and file scope variables/functions</a:t>
                      </a:r>
                      <a:endParaRPr lang="en-US" sz="1200" b="1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Private/public</a:t>
                      </a:r>
                      <a:r>
                        <a:rPr lang="en-US" sz="1200" b="1" baseline="0" noProof="0" dirty="0" smtClean="0"/>
                        <a:t> static </a:t>
                      </a:r>
                      <a:r>
                        <a:rPr lang="en-US" sz="1200" b="1" baseline="0" noProof="0" dirty="0" err="1" smtClean="0"/>
                        <a:t>const</a:t>
                      </a:r>
                      <a:r>
                        <a:rPr lang="en-US" sz="1200" b="1" baseline="0" noProof="0" dirty="0" smtClean="0"/>
                        <a:t> attribute of class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Extern variables can be modeled as public static attribute of a class. File</a:t>
                      </a:r>
                      <a:r>
                        <a:rPr lang="en-US" sz="1200" b="1" baseline="0" noProof="0" dirty="0" smtClean="0"/>
                        <a:t> scope is modeled as static variable, with a visibility that depends on who uses the static variable in the file.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noProof="0" dirty="0" smtClean="0"/>
                        <a:t>Not all types are defined (e.g. function pointer,</a:t>
                      </a:r>
                      <a:r>
                        <a:rPr lang="en-US" sz="1200" baseline="0" noProof="0" dirty="0" smtClean="0"/>
                        <a:t> </a:t>
                      </a:r>
                      <a:r>
                        <a:rPr lang="en-US" sz="1200" baseline="0" noProof="0" dirty="0" err="1" smtClean="0"/>
                        <a:t>enum</a:t>
                      </a:r>
                      <a:r>
                        <a:rPr lang="en-US" sz="1200" baseline="0" noProof="0" dirty="0" smtClean="0"/>
                        <a:t>)</a:t>
                      </a:r>
                      <a:endParaRPr lang="en-US" sz="12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Some extra types to wrap-up</a:t>
                      </a:r>
                      <a:r>
                        <a:rPr lang="en-US" sz="1200" baseline="0" noProof="0" dirty="0" smtClean="0"/>
                        <a:t> another type or </a:t>
                      </a:r>
                      <a:r>
                        <a:rPr lang="en-US" sz="1200" baseline="0" noProof="0" dirty="0" err="1" smtClean="0"/>
                        <a:t>enum</a:t>
                      </a:r>
                      <a:r>
                        <a:rPr lang="en-US" sz="1200" baseline="0" noProof="0" dirty="0" smtClean="0"/>
                        <a:t>, in order to not overload the model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Just</a:t>
                      </a:r>
                      <a:r>
                        <a:rPr lang="en-US" sz="1200" baseline="0" noProof="0" dirty="0" smtClean="0"/>
                        <a:t> an extra step when specifying the type of an attribute or parameter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noProof="0" dirty="0" smtClean="0"/>
                        <a:t>Manual forward declarations and includes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Declarations and includes</a:t>
                      </a:r>
                      <a:r>
                        <a:rPr lang="en-US" sz="1200" baseline="0" noProof="0" dirty="0" smtClean="0"/>
                        <a:t> handled automatically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/>
                        <a:t>Automatic</a:t>
                      </a:r>
                      <a:r>
                        <a:rPr lang="en-US" sz="1200" baseline="0" noProof="0" dirty="0" smtClean="0"/>
                        <a:t> for header, based on dependencies in body; We don’t encourage manual includes with &lt;&lt;include&gt;&gt;</a:t>
                      </a:r>
                      <a:endParaRPr lang="en-US" sz="12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noProof="0" dirty="0" smtClean="0"/>
                        <a:t>File with n</a:t>
                      </a:r>
                      <a:r>
                        <a:rPr lang="en-US" sz="1200" baseline="0" noProof="0" dirty="0" smtClean="0"/>
                        <a:t>o class, only methods</a:t>
                      </a:r>
                      <a:endParaRPr lang="en-US" sz="120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 smtClean="0"/>
                        <a:t>Class with public</a:t>
                      </a:r>
                      <a:r>
                        <a:rPr lang="en-US" sz="1200" baseline="0" noProof="0" dirty="0" smtClean="0"/>
                        <a:t> static operations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noProof="0" dirty="0" smtClean="0"/>
                        <a:t>Methods with OS-dependent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/>
                        <a:t>Stereotyped &lt;&lt;</a:t>
                      </a:r>
                      <a:r>
                        <a:rPr lang="en-US" sz="1200" b="1" noProof="0" dirty="0" err="1" smtClean="0"/>
                        <a:t>NoCodeGen</a:t>
                      </a:r>
                      <a:r>
                        <a:rPr lang="en-US" sz="1200" b="1" noProof="0" dirty="0" smtClean="0"/>
                        <a:t>&gt;&gt; and kept original</a:t>
                      </a:r>
                      <a:r>
                        <a:rPr lang="en-US" sz="1200" b="1" baseline="0" noProof="0" dirty="0" smtClean="0"/>
                        <a:t> OS-dependent implementations, linked at compilation</a:t>
                      </a:r>
                      <a:endParaRPr lang="en-US" sz="12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 smtClean="0"/>
                        <a:t>A better solution will be proposed later</a:t>
                      </a:r>
                      <a:r>
                        <a:rPr lang="en-US" sz="1200" b="1" baseline="0" noProof="0" dirty="0" smtClean="0"/>
                        <a:t> with an OS abstraction layer in the model.</a:t>
                      </a:r>
                      <a:endParaRPr lang="en-US" sz="1200" b="1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518954" y="764704"/>
            <a:ext cx="8106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Differences between runtimes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6559395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smtClean="0"/>
              <a:t>Roadmap</a:t>
            </a:r>
            <a:endParaRPr lang="fr-FR" dirty="0"/>
          </a:p>
        </p:txBody>
      </p:sp>
      <p:graphicFrame>
        <p:nvGraphicFramePr>
          <p:cNvPr id="4" name="Diagramme 3"/>
          <p:cNvGraphicFramePr/>
          <p:nvPr>
            <p:extLst/>
          </p:nvPr>
        </p:nvGraphicFramePr>
        <p:xfrm>
          <a:off x="287524" y="1397000"/>
          <a:ext cx="8568952" cy="484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Accolade fermante 14"/>
          <p:cNvSpPr/>
          <p:nvPr/>
        </p:nvSpPr>
        <p:spPr>
          <a:xfrm rot="5400000">
            <a:off x="4469295" y="3531705"/>
            <a:ext cx="144016" cy="2818925"/>
          </a:xfrm>
          <a:prstGeom prst="rightBrac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2948559" y="5013176"/>
            <a:ext cx="31854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rgbClr val="0070C0"/>
                </a:solidFill>
              </a:rPr>
              <a:t>Several</a:t>
            </a:r>
            <a:r>
              <a:rPr lang="fr-FR" sz="1400" b="1" dirty="0" smtClean="0">
                <a:solidFill>
                  <a:srgbClr val="0070C0"/>
                </a:solidFill>
              </a:rPr>
              <a:t> </a:t>
            </a:r>
            <a:r>
              <a:rPr lang="fr-FR" sz="1400" b="1" dirty="0" err="1" smtClean="0">
                <a:solidFill>
                  <a:srgbClr val="0070C0"/>
                </a:solidFill>
              </a:rPr>
              <a:t>iterations</a:t>
            </a:r>
            <a:r>
              <a:rPr lang="fr-FR" sz="1400" b="1" dirty="0" smtClean="0">
                <a:solidFill>
                  <a:srgbClr val="0070C0"/>
                </a:solidFill>
              </a:rPr>
              <a:t>; </a:t>
            </a:r>
            <a:r>
              <a:rPr lang="fr-FR" sz="1400" b="1" dirty="0" err="1" smtClean="0">
                <a:solidFill>
                  <a:srgbClr val="0070C0"/>
                </a:solidFill>
              </a:rPr>
              <a:t>currently</a:t>
            </a:r>
            <a:r>
              <a:rPr lang="fr-FR" sz="1400" b="1" dirty="0" smtClean="0">
                <a:solidFill>
                  <a:srgbClr val="0070C0"/>
                </a:solidFill>
              </a:rPr>
              <a:t>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 smtClean="0">
                <a:solidFill>
                  <a:srgbClr val="0070C0"/>
                </a:solidFill>
              </a:rPr>
              <a:t>Circular</a:t>
            </a:r>
            <a:r>
              <a:rPr lang="fr-FR" sz="1400" b="1" dirty="0" smtClean="0">
                <a:solidFill>
                  <a:srgbClr val="0070C0"/>
                </a:solidFill>
              </a:rPr>
              <a:t> </a:t>
            </a:r>
            <a:r>
              <a:rPr lang="fr-FR" sz="1400" b="1" dirty="0" err="1" smtClean="0">
                <a:solidFill>
                  <a:srgbClr val="0070C0"/>
                </a:solidFill>
              </a:rPr>
              <a:t>dependencies</a:t>
            </a:r>
            <a:endParaRPr lang="fr-FR" sz="1400" b="1" dirty="0" smtClean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 smtClean="0">
                <a:solidFill>
                  <a:srgbClr val="0070C0"/>
                </a:solidFill>
              </a:rPr>
              <a:t>Comments</a:t>
            </a:r>
            <a:endParaRPr lang="fr-FR" sz="1400" b="1" dirty="0" smtClean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 smtClean="0">
                <a:solidFill>
                  <a:srgbClr val="0070C0"/>
                </a:solidFill>
              </a:rPr>
              <a:t>Debug</a:t>
            </a:r>
            <a:r>
              <a:rPr lang="fr-FR" sz="1400" b="1" dirty="0" smtClean="0">
                <a:solidFill>
                  <a:srgbClr val="0070C0"/>
                </a:solidFill>
              </a:rPr>
              <a:t> code in </a:t>
            </a:r>
            <a:r>
              <a:rPr lang="fr-FR" sz="1400" b="1" dirty="0" err="1" smtClean="0">
                <a:solidFill>
                  <a:srgbClr val="0070C0"/>
                </a:solidFill>
              </a:rPr>
              <a:t>OpaqueBehavior</a:t>
            </a:r>
            <a:endParaRPr lang="fr-FR" sz="1400" b="1" dirty="0">
              <a:solidFill>
                <a:srgbClr val="0070C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977785" y="5921469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 smtClean="0"/>
              <a:t>End of</a:t>
            </a:r>
          </a:p>
          <a:p>
            <a:pPr algn="r"/>
            <a:r>
              <a:rPr lang="fr-FR" sz="1600" b="1" dirty="0" smtClean="0"/>
              <a:t>2015-11</a:t>
            </a:r>
            <a:endParaRPr lang="fr-FR" sz="1600" b="1" dirty="0"/>
          </a:p>
        </p:txBody>
      </p:sp>
      <p:cxnSp>
        <p:nvCxnSpPr>
          <p:cNvPr id="19" name="Connecteur droit 18"/>
          <p:cNvCxnSpPr/>
          <p:nvPr/>
        </p:nvCxnSpPr>
        <p:spPr>
          <a:xfrm>
            <a:off x="6913889" y="3969031"/>
            <a:ext cx="0" cy="22852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8827347" y="3969031"/>
            <a:ext cx="0" cy="22852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891243" y="6167690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 smtClean="0"/>
              <a:t>2016-01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824716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Summary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srgbClr val="323265"/>
                </a:solidFill>
              </a:rPr>
              <a:t>A graphical UML model of the whole runtime, with a defined </a:t>
            </a:r>
            <a:r>
              <a:rPr lang="en-US" sz="1800" dirty="0" smtClean="0">
                <a:solidFill>
                  <a:srgbClr val="323265"/>
                </a:solidFill>
              </a:rPr>
              <a:t>architecture</a:t>
            </a:r>
            <a:endParaRPr lang="en-US" sz="1800" dirty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All </a:t>
            </a:r>
            <a:r>
              <a:rPr lang="en-US" sz="1800" dirty="0">
                <a:solidFill>
                  <a:srgbClr val="323265"/>
                </a:solidFill>
              </a:rPr>
              <a:t>65 classes were modeled, resulting in 20815 lines of code </a:t>
            </a:r>
            <a:r>
              <a:rPr lang="en-US" sz="1800" dirty="0" smtClean="0">
                <a:solidFill>
                  <a:srgbClr val="323265"/>
                </a:solidFill>
              </a:rPr>
              <a:t>generated in 5 seconds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Differences between runtimes exist, but must not result in different behaviors of the runtimes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Most missing C/C++ features have been added to the code generation framework; after the missing features are modeled, the bulk of the work should move on to debugging the generated code (outside of modeling scope)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err="1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57748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Ongoing technical work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srgbClr val="323265"/>
                </a:solidFill>
              </a:rPr>
              <a:t>OS abstraction layer for </a:t>
            </a:r>
            <a:r>
              <a:rPr lang="en-US" sz="1800" dirty="0" smtClean="0">
                <a:solidFill>
                  <a:srgbClr val="323265"/>
                </a:solidFill>
              </a:rPr>
              <a:t>OS-dependent entities, i.e. thread, semaphore, </a:t>
            </a:r>
            <a:r>
              <a:rPr lang="en-US" sz="1800" dirty="0" err="1" smtClean="0">
                <a:solidFill>
                  <a:srgbClr val="323265"/>
                </a:solidFill>
              </a:rPr>
              <a:t>mutex</a:t>
            </a:r>
            <a:r>
              <a:rPr lang="en-US" sz="1800" dirty="0" smtClean="0">
                <a:solidFill>
                  <a:srgbClr val="323265"/>
                </a:solidFill>
              </a:rPr>
              <a:t>, notify, time, </a:t>
            </a:r>
            <a:r>
              <a:rPr lang="en-US" sz="1800" dirty="0" err="1" smtClean="0">
                <a:solidFill>
                  <a:srgbClr val="323265"/>
                </a:solidFill>
              </a:rPr>
              <a:t>timespec</a:t>
            </a:r>
            <a:endParaRPr lang="en-US" sz="1800" dirty="0" smtClean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Enforce modeling rules and validation, e.g.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Class A depends on class B on if class A has an operation or method that uses class B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Package P1 depends on package P2 if P1 contains A, and P2 contains B, A depends on B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Modification of </a:t>
            </a:r>
            <a:r>
              <a:rPr lang="en-US" sz="1800" dirty="0" err="1" smtClean="0">
                <a:solidFill>
                  <a:srgbClr val="323265"/>
                </a:solidFill>
              </a:rPr>
              <a:t>C_Cpp</a:t>
            </a:r>
            <a:r>
              <a:rPr lang="en-US" sz="1800" dirty="0" smtClean="0">
                <a:solidFill>
                  <a:srgbClr val="323265"/>
                </a:solidFill>
              </a:rPr>
              <a:t> profile and code generator for unsupported C/C++ features and add them to model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srgbClr val="323265"/>
                </a:solidFill>
              </a:rPr>
              <a:t>Comments </a:t>
            </a:r>
            <a:r>
              <a:rPr lang="en-US" sz="1800" dirty="0" smtClean="0">
                <a:solidFill>
                  <a:srgbClr val="323265"/>
                </a:solidFill>
              </a:rPr>
              <a:t>handling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Debugging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Generation of fully functional UML-RT runtime, i.e. </a:t>
            </a:r>
            <a:r>
              <a:rPr lang="en-US" sz="1800" dirty="0" err="1" smtClean="0">
                <a:solidFill>
                  <a:srgbClr val="323265"/>
                </a:solidFill>
              </a:rPr>
              <a:t>compilable</a:t>
            </a:r>
            <a:r>
              <a:rPr lang="en-US" sz="1800" dirty="0" smtClean="0">
                <a:solidFill>
                  <a:srgbClr val="323265"/>
                </a:solidFill>
              </a:rPr>
              <a:t>, executable, and behavior equivalent to original runtime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[Other technical work to be added after discussion with </a:t>
            </a:r>
            <a:r>
              <a:rPr lang="en-US" sz="1800" dirty="0" err="1" smtClean="0">
                <a:solidFill>
                  <a:srgbClr val="323265"/>
                </a:solidFill>
              </a:rPr>
              <a:t>Zeligsoft</a:t>
            </a:r>
            <a:r>
              <a:rPr lang="en-US" sz="1800" dirty="0" smtClean="0">
                <a:solidFill>
                  <a:srgbClr val="323265"/>
                </a:solidFill>
              </a:rPr>
              <a:t>]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err="1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908811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E60019"/>
                </a:solidFill>
              </a:rPr>
              <a:t>Ongoing </a:t>
            </a:r>
            <a:r>
              <a:rPr lang="en-US" dirty="0" smtClean="0">
                <a:solidFill>
                  <a:srgbClr val="E60019"/>
                </a:solidFill>
              </a:rPr>
              <a:t>research work </a:t>
            </a:r>
            <a:r>
              <a:rPr lang="en-US" dirty="0">
                <a:solidFill>
                  <a:srgbClr val="E60019"/>
                </a:solidFill>
              </a:rPr>
              <a:t>(PhD thesis)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srgbClr val="323265"/>
                </a:solidFill>
              </a:rPr>
              <a:t>Support of incremental transformations in C++ code </a:t>
            </a:r>
            <a:r>
              <a:rPr lang="en-US" sz="1800" dirty="0" smtClean="0">
                <a:solidFill>
                  <a:srgbClr val="323265"/>
                </a:solidFill>
              </a:rPr>
              <a:t>generator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Avoid </a:t>
            </a:r>
            <a:r>
              <a:rPr lang="en-US" sz="1800" dirty="0">
                <a:solidFill>
                  <a:srgbClr val="323265"/>
                </a:solidFill>
              </a:rPr>
              <a:t>unnecessary re-generation (&amp; subsequent compilation)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Better bi-directional </a:t>
            </a:r>
            <a:r>
              <a:rPr lang="en-US" sz="1800" dirty="0">
                <a:solidFill>
                  <a:srgbClr val="323265"/>
                </a:solidFill>
              </a:rPr>
              <a:t>updates: model to code, code to </a:t>
            </a:r>
            <a:r>
              <a:rPr lang="en-US" sz="1800" dirty="0" smtClean="0">
                <a:solidFill>
                  <a:srgbClr val="323265"/>
                </a:solidFill>
              </a:rPr>
              <a:t>model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solidFill>
                  <a:srgbClr val="323265"/>
                </a:solidFill>
              </a:rPr>
              <a:t>Opportunity to merge existing code generators into single </a:t>
            </a:r>
            <a:r>
              <a:rPr lang="en-US" sz="1800" dirty="0" smtClean="0">
                <a:solidFill>
                  <a:srgbClr val="323265"/>
                </a:solidFill>
              </a:rPr>
              <a:t>one (e.g. C++, Java, Ada)</a:t>
            </a:r>
            <a:endParaRPr lang="en-US" sz="1800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82423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Runtime as a </a:t>
            </a:r>
            <a:r>
              <a:rPr lang="en-US" dirty="0">
                <a:solidFill>
                  <a:srgbClr val="E60019"/>
                </a:solidFill>
              </a:rPr>
              <a:t>model library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0070C0"/>
                </a:solidFill>
              </a:rPr>
              <a:t>Product </a:t>
            </a:r>
            <a:r>
              <a:rPr lang="en-US" sz="1800" dirty="0">
                <a:solidFill>
                  <a:srgbClr val="0070C0"/>
                </a:solidFill>
              </a:rPr>
              <a:t>line</a:t>
            </a:r>
            <a:r>
              <a:rPr lang="en-US" sz="1800" dirty="0">
                <a:solidFill>
                  <a:srgbClr val="323265"/>
                </a:solidFill>
              </a:rPr>
              <a:t> approach with 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Explicitly </a:t>
            </a:r>
            <a:r>
              <a:rPr lang="en-US" sz="1600" dirty="0">
                <a:solidFill>
                  <a:srgbClr val="323265"/>
                </a:solidFill>
              </a:rPr>
              <a:t>modeled variation </a:t>
            </a:r>
            <a:r>
              <a:rPr lang="en-US" sz="1600" dirty="0" smtClean="0">
                <a:solidFill>
                  <a:srgbClr val="323265"/>
                </a:solidFill>
              </a:rPr>
              <a:t>points</a:t>
            </a:r>
            <a:r>
              <a:rPr lang="en-US" sz="1600" dirty="0">
                <a:solidFill>
                  <a:srgbClr val="323265"/>
                </a:solidFill>
              </a:rPr>
              <a:t> </a:t>
            </a:r>
            <a:r>
              <a:rPr lang="en-US" sz="1600" dirty="0" smtClean="0">
                <a:solidFill>
                  <a:srgbClr val="323265"/>
                </a:solidFill>
                <a:sym typeface="Wingdings" panose="05000000000000000000" pitchFamily="2" charset="2"/>
              </a:rPr>
              <a:t></a:t>
            </a:r>
            <a:r>
              <a:rPr lang="en-US" sz="1600" dirty="0" smtClean="0">
                <a:solidFill>
                  <a:srgbClr val="323265"/>
                </a:solidFill>
              </a:rPr>
              <a:t> </a:t>
            </a:r>
            <a:r>
              <a:rPr lang="en-US" sz="1600" dirty="0">
                <a:solidFill>
                  <a:srgbClr val="323265"/>
                </a:solidFill>
              </a:rPr>
              <a:t>required runtime is derived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323265"/>
                </a:solidFill>
              </a:rPr>
              <a:t>Different profiles of same runtime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Common application model, container classes, and OS </a:t>
            </a:r>
            <a:r>
              <a:rPr lang="en-US" sz="1800" dirty="0">
                <a:solidFill>
                  <a:srgbClr val="323265"/>
                </a:solidFill>
              </a:rPr>
              <a:t>abstraction </a:t>
            </a:r>
            <a:r>
              <a:rPr lang="en-US" sz="1800" dirty="0" smtClean="0">
                <a:solidFill>
                  <a:srgbClr val="323265"/>
                </a:solidFill>
              </a:rPr>
              <a:t>layer</a:t>
            </a:r>
            <a:endParaRPr lang="en-US" sz="1800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en-US" dirty="0"/>
              <a:t>Perspectives: future toolchain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557" y="3085944"/>
            <a:ext cx="2592288" cy="2592287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UML/RT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11860" y="3085944"/>
            <a:ext cx="2592288" cy="2592287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Rhapsody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12160" y="3085944"/>
            <a:ext cx="2592288" cy="2592288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XT-UML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9117" y="3526955"/>
            <a:ext cx="2216700" cy="474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Application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56176" y="5102168"/>
            <a:ext cx="2376264" cy="424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(model)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9874" y="5102167"/>
            <a:ext cx="2304254" cy="4240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(model)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569" y="5102167"/>
            <a:ext cx="2232248" cy="4240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runtime (model)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83569" y="4247035"/>
            <a:ext cx="1116124" cy="567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interaction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7" name="Connecteur droit avec flèche 36"/>
          <p:cNvCxnSpPr>
            <a:stCxn id="36" idx="2"/>
          </p:cNvCxnSpPr>
          <p:nvPr/>
        </p:nvCxnSpPr>
        <p:spPr>
          <a:xfrm>
            <a:off x="1241631" y="4814136"/>
            <a:ext cx="0" cy="29699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79714" y="4247036"/>
            <a:ext cx="936103" cy="567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service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9" name="Connecteur droit avec flèche 38"/>
          <p:cNvCxnSpPr/>
          <p:nvPr/>
        </p:nvCxnSpPr>
        <p:spPr>
          <a:xfrm>
            <a:off x="2448931" y="4814135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443416" y="4247035"/>
            <a:ext cx="1116124" cy="567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interaction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39561" y="4247034"/>
            <a:ext cx="936103" cy="567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service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61091" y="4247036"/>
            <a:ext cx="1116124" cy="567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interaction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457236" y="4247035"/>
            <a:ext cx="936103" cy="567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service library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4" name="Connecteur droit avec flèche 43"/>
          <p:cNvCxnSpPr/>
          <p:nvPr/>
        </p:nvCxnSpPr>
        <p:spPr>
          <a:xfrm>
            <a:off x="4012772" y="4814135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5207612" y="4814137"/>
            <a:ext cx="0" cy="313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>
            <a:off x="6719153" y="4814135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7921641" y="4814135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454650" y="3517991"/>
            <a:ext cx="2216700" cy="474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Application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5958" y="3526955"/>
            <a:ext cx="2216700" cy="4749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Application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lèche vers le bas 2"/>
          <p:cNvSpPr/>
          <p:nvPr/>
        </p:nvSpPr>
        <p:spPr>
          <a:xfrm>
            <a:off x="4211960" y="5903736"/>
            <a:ext cx="792088" cy="288032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3996298" y="630002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All in one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446033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E60019"/>
                </a:solidFill>
              </a:rPr>
              <a:t>Runtime as a model library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Identify </a:t>
            </a:r>
            <a:r>
              <a:rPr lang="en-US" sz="1800" dirty="0">
                <a:solidFill>
                  <a:srgbClr val="323265"/>
                </a:solidFill>
              </a:rPr>
              <a:t>&amp; model interaction mechanisms and services</a:t>
            </a:r>
            <a:br>
              <a:rPr lang="en-US" sz="1800" dirty="0">
                <a:solidFill>
                  <a:srgbClr val="323265"/>
                </a:solidFill>
              </a:rPr>
            </a:br>
            <a:r>
              <a:rPr lang="en-US" sz="1800" dirty="0">
                <a:solidFill>
                  <a:srgbClr val="323265"/>
                </a:solidFill>
              </a:rPr>
              <a:t>(as in </a:t>
            </a:r>
            <a:r>
              <a:rPr lang="en-US" sz="1800" dirty="0" err="1">
                <a:solidFill>
                  <a:srgbClr val="323265"/>
                </a:solidFill>
              </a:rPr>
              <a:t>Qompass</a:t>
            </a:r>
            <a:r>
              <a:rPr lang="en-US" sz="1800" dirty="0">
                <a:solidFill>
                  <a:srgbClr val="323265"/>
                </a:solidFill>
              </a:rPr>
              <a:t> designer</a:t>
            </a:r>
            <a:r>
              <a:rPr lang="en-US" sz="1800" dirty="0" smtClean="0">
                <a:solidFill>
                  <a:srgbClr val="323265"/>
                </a:solidFill>
              </a:rPr>
              <a:t>)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 smtClean="0">
                <a:solidFill>
                  <a:srgbClr val="323265"/>
                </a:solidFill>
                <a:sym typeface="Wingdings" panose="05000000000000000000" pitchFamily="2" charset="2"/>
              </a:rPr>
              <a:t>Generate automatically </a:t>
            </a:r>
            <a:r>
              <a:rPr lang="en-US" sz="1800" dirty="0">
                <a:solidFill>
                  <a:srgbClr val="323265"/>
                </a:solidFill>
                <a:sym typeface="Wingdings" panose="05000000000000000000" pitchFamily="2" charset="2"/>
              </a:rPr>
              <a:t>specific runtime depending on </a:t>
            </a:r>
            <a:r>
              <a:rPr lang="en-US" sz="1800" dirty="0" smtClean="0">
                <a:solidFill>
                  <a:srgbClr val="323265"/>
                </a:solidFill>
                <a:sym typeface="Wingdings" panose="05000000000000000000" pitchFamily="2" charset="2"/>
              </a:rPr>
              <a:t>used interaction </a:t>
            </a:r>
            <a:r>
              <a:rPr lang="en-US" sz="1800" dirty="0">
                <a:solidFill>
                  <a:srgbClr val="323265"/>
                </a:solidFill>
                <a:sym typeface="Wingdings" panose="05000000000000000000" pitchFamily="2" charset="2"/>
              </a:rPr>
              <a:t>mechanisms &amp; services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en-US" dirty="0"/>
              <a:t>Perspectives: future toolchain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384" y="6185929"/>
            <a:ext cx="1080120" cy="620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585529"/>
            <a:ext cx="7847856" cy="4199458"/>
          </a:xfrm>
          <a:prstGeom prst="rect">
            <a:avLst/>
          </a:prstGeom>
        </p:spPr>
      </p:pic>
      <p:sp>
        <p:nvSpPr>
          <p:cNvPr id="27" name="Rectangle à coins arrondis 26"/>
          <p:cNvSpPr/>
          <p:nvPr/>
        </p:nvSpPr>
        <p:spPr>
          <a:xfrm>
            <a:off x="251520" y="3940290"/>
            <a:ext cx="3312368" cy="949495"/>
          </a:xfrm>
          <a:prstGeom prst="wedgeRoundRectCallout">
            <a:avLst>
              <a:gd name="adj1" fmla="val 83293"/>
              <a:gd name="adj2" fmla="val 16689"/>
              <a:gd name="adj3" fmla="val 16667"/>
            </a:avLst>
          </a:prstGeom>
          <a:solidFill>
            <a:srgbClr val="F0F0A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M2M transformations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Weaving interaction mechanisms and services into resulting model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3552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r>
              <a:rPr lang="de-DE" dirty="0" err="1" smtClean="0"/>
              <a:t>Questions</a:t>
            </a:r>
            <a:r>
              <a:rPr lang="de-DE" dirty="0" smtClean="0"/>
              <a:t> &amp; </a:t>
            </a:r>
            <a:r>
              <a:rPr lang="de-DE" dirty="0" err="1" smtClean="0"/>
              <a:t>Answers</a:t>
            </a:r>
            <a:endParaRPr lang="fr-FR" dirty="0"/>
          </a:p>
        </p:txBody>
      </p:sp>
      <p:pic>
        <p:nvPicPr>
          <p:cNvPr id="6" name="Picture 4" descr="help, mark, question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876" y="2312876"/>
            <a:ext cx="2232248" cy="2232248"/>
          </a:xfrm>
          <a:prstGeom prst="rect">
            <a:avLst/>
          </a:prstGeom>
          <a:noFill/>
          <a:extLst/>
        </p:spPr>
      </p:pic>
      <p:sp>
        <p:nvSpPr>
          <p:cNvPr id="4" name="Bulle ronde 3"/>
          <p:cNvSpPr/>
          <p:nvPr/>
        </p:nvSpPr>
        <p:spPr>
          <a:xfrm>
            <a:off x="6012160" y="1967660"/>
            <a:ext cx="3096344" cy="1304528"/>
          </a:xfrm>
          <a:prstGeom prst="wedgeEllipseCallout">
            <a:avLst>
              <a:gd name="adj1" fmla="val -47654"/>
              <a:gd name="adj2" fmla="val 5519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Are </a:t>
            </a:r>
            <a:r>
              <a:rPr lang="fr-FR" dirty="0" err="1" smtClean="0">
                <a:solidFill>
                  <a:schemeClr val="tx1"/>
                </a:solidFill>
              </a:rPr>
              <a:t>there</a:t>
            </a:r>
            <a:r>
              <a:rPr lang="fr-FR" dirty="0" smtClean="0">
                <a:solidFill>
                  <a:schemeClr val="tx1"/>
                </a:solidFill>
              </a:rPr>
              <a:t> C/C++ </a:t>
            </a:r>
            <a:r>
              <a:rPr lang="fr-FR" dirty="0" err="1" smtClean="0">
                <a:solidFill>
                  <a:schemeClr val="tx1"/>
                </a:solidFill>
              </a:rPr>
              <a:t>features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that</a:t>
            </a:r>
            <a:r>
              <a:rPr lang="fr-FR" dirty="0" smtClean="0">
                <a:solidFill>
                  <a:schemeClr val="tx1"/>
                </a:solidFill>
              </a:rPr>
              <a:t> are </a:t>
            </a:r>
            <a:r>
              <a:rPr lang="fr-FR" dirty="0" err="1" smtClean="0">
                <a:solidFill>
                  <a:schemeClr val="tx1"/>
                </a:solidFill>
              </a:rPr>
              <a:t>absolutely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necessary</a:t>
            </a:r>
            <a:r>
              <a:rPr lang="fr-FR" dirty="0" smtClean="0">
                <a:solidFill>
                  <a:schemeClr val="tx1"/>
                </a:solidFill>
              </a:rPr>
              <a:t>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Bulle ronde 6"/>
          <p:cNvSpPr/>
          <p:nvPr/>
        </p:nvSpPr>
        <p:spPr>
          <a:xfrm>
            <a:off x="395536" y="1355592"/>
            <a:ext cx="2736304" cy="1224136"/>
          </a:xfrm>
          <a:prstGeom prst="wedgeEllipseCallout">
            <a:avLst>
              <a:gd name="adj1" fmla="val 53603"/>
              <a:gd name="adj2" fmla="val 625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How </a:t>
            </a:r>
            <a:r>
              <a:rPr lang="fr-FR" dirty="0" err="1" smtClean="0">
                <a:solidFill>
                  <a:schemeClr val="tx1"/>
                </a:solidFill>
              </a:rPr>
              <a:t>will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use the model and </a:t>
            </a:r>
            <a:r>
              <a:rPr lang="fr-FR" dirty="0" err="1" smtClean="0">
                <a:solidFill>
                  <a:schemeClr val="tx1"/>
                </a:solidFill>
              </a:rPr>
              <a:t>generated</a:t>
            </a:r>
            <a:r>
              <a:rPr lang="fr-FR" dirty="0" smtClean="0">
                <a:solidFill>
                  <a:schemeClr val="tx1"/>
                </a:solidFill>
              </a:rPr>
              <a:t> code?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Bulle ronde 7"/>
          <p:cNvSpPr/>
          <p:nvPr/>
        </p:nvSpPr>
        <p:spPr>
          <a:xfrm>
            <a:off x="5688124" y="4491118"/>
            <a:ext cx="3168352" cy="1224136"/>
          </a:xfrm>
          <a:prstGeom prst="wedgeEllipseCallout">
            <a:avLst>
              <a:gd name="adj1" fmla="val -49652"/>
              <a:gd name="adj2" fmla="val -6390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What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evolutions</a:t>
            </a:r>
            <a:r>
              <a:rPr lang="fr-FR" dirty="0" smtClean="0">
                <a:solidFill>
                  <a:schemeClr val="tx1"/>
                </a:solidFill>
              </a:rPr>
              <a:t> do </a:t>
            </a:r>
            <a:r>
              <a:rPr lang="fr-FR" dirty="0" err="1" smtClean="0">
                <a:solidFill>
                  <a:schemeClr val="tx1"/>
                </a:solidFill>
              </a:rPr>
              <a:t>we</a:t>
            </a:r>
            <a:r>
              <a:rPr lang="fr-FR" dirty="0" smtClean="0">
                <a:solidFill>
                  <a:schemeClr val="tx1"/>
                </a:solidFill>
              </a:rPr>
              <a:t> plan for the model?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ALF?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Bulle ronde 8"/>
          <p:cNvSpPr/>
          <p:nvPr/>
        </p:nvSpPr>
        <p:spPr>
          <a:xfrm>
            <a:off x="683568" y="4581128"/>
            <a:ext cx="3435120" cy="1134126"/>
          </a:xfrm>
          <a:prstGeom prst="wedgeEllipseCallout">
            <a:avLst>
              <a:gd name="adj1" fmla="val 35844"/>
              <a:gd name="adj2" fmla="val -6784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Which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method</a:t>
            </a:r>
            <a:r>
              <a:rPr lang="fr-FR" dirty="0" smtClean="0">
                <a:solidFill>
                  <a:schemeClr val="tx1"/>
                </a:solidFill>
              </a:rPr>
              <a:t> do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prefer</a:t>
            </a:r>
            <a:r>
              <a:rPr lang="fr-FR" dirty="0" smtClean="0">
                <a:solidFill>
                  <a:schemeClr val="tx1"/>
                </a:solidFill>
              </a:rPr>
              <a:t> for sharing?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Papyrus-RT Git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Bulle ronde 9"/>
          <p:cNvSpPr/>
          <p:nvPr/>
        </p:nvSpPr>
        <p:spPr>
          <a:xfrm>
            <a:off x="179512" y="2924944"/>
            <a:ext cx="3027285" cy="1134126"/>
          </a:xfrm>
          <a:prstGeom prst="wedgeEllipseCallout">
            <a:avLst>
              <a:gd name="adj1" fmla="val 50628"/>
              <a:gd name="adj2" fmla="val 4734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What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would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you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like</a:t>
            </a:r>
            <a:r>
              <a:rPr lang="fr-FR" dirty="0" smtClean="0">
                <a:solidFill>
                  <a:schemeClr val="tx1"/>
                </a:solidFill>
              </a:rPr>
              <a:t> to </a:t>
            </a:r>
            <a:r>
              <a:rPr lang="fr-FR" dirty="0" err="1" smtClean="0">
                <a:solidFill>
                  <a:schemeClr val="tx1"/>
                </a:solidFill>
              </a:rPr>
              <a:t>modify</a:t>
            </a:r>
            <a:r>
              <a:rPr lang="fr-FR" dirty="0" smtClean="0">
                <a:solidFill>
                  <a:schemeClr val="tx1"/>
                </a:solidFill>
              </a:rPr>
              <a:t>? </a:t>
            </a:r>
            <a:r>
              <a:rPr lang="fr-FR" dirty="0" err="1" smtClean="0">
                <a:solidFill>
                  <a:schemeClr val="tx1"/>
                </a:solidFill>
              </a:rPr>
              <a:t>E.g</a:t>
            </a:r>
            <a:r>
              <a:rPr lang="fr-FR" dirty="0" smtClean="0">
                <a:solidFill>
                  <a:schemeClr val="tx1"/>
                </a:solidFill>
              </a:rPr>
              <a:t>. </a:t>
            </a:r>
            <a:r>
              <a:rPr lang="fr-FR" dirty="0" err="1" smtClean="0">
                <a:solidFill>
                  <a:schemeClr val="tx1"/>
                </a:solidFill>
              </a:rPr>
              <a:t>comments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10477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12279</TotalTime>
  <Words>1033</Words>
  <Application>Microsoft Office PowerPoint</Application>
  <PresentationFormat>Affichage à l'écran (4:3)</PresentationFormat>
  <Paragraphs>177</Paragraphs>
  <Slides>16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Ravie</vt:lpstr>
      <vt:lpstr>Wingdings</vt:lpstr>
      <vt:lpstr>CEA_Tech_List</vt:lpstr>
      <vt:lpstr>Retro-engineering of UML-RT runtime and Code Generation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Retro-engineering of UML-RT runtime and Code Generation</dc:title>
  <dc:creator>shuai.li@cea.fr</dc:creator>
  <cp:lastModifiedBy>LI Shuai</cp:lastModifiedBy>
  <cp:revision>4211</cp:revision>
  <dcterms:created xsi:type="dcterms:W3CDTF">2013-02-01T10:51:35Z</dcterms:created>
  <dcterms:modified xsi:type="dcterms:W3CDTF">2015-11-24T14:54:20Z</dcterms:modified>
</cp:coreProperties>
</file>